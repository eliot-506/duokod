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jon Matchanov" userId="baf7a3612ef7e372" providerId="LiveId" clId="{33EE1F60-C6D4-4F82-866A-FF8A142596D6}"/>
    <pc:docChg chg="modSld">
      <pc:chgData name="Muhammadjon Matchanov" userId="baf7a3612ef7e372" providerId="LiveId" clId="{33EE1F60-C6D4-4F82-866A-FF8A142596D6}" dt="2026-04-12T09:28:42.620" v="13" actId="1076"/>
      <pc:docMkLst>
        <pc:docMk/>
      </pc:docMkLst>
      <pc:sldChg chg="modSp mod">
        <pc:chgData name="Muhammadjon Matchanov" userId="baf7a3612ef7e372" providerId="LiveId" clId="{33EE1F60-C6D4-4F82-866A-FF8A142596D6}" dt="2026-04-12T09:25:30.396" v="1" actId="20577"/>
        <pc:sldMkLst>
          <pc:docMk/>
          <pc:sldMk cId="0" sldId="256"/>
        </pc:sldMkLst>
        <pc:spChg chg="mod">
          <ac:chgData name="Muhammadjon Matchanov" userId="baf7a3612ef7e372" providerId="LiveId" clId="{33EE1F60-C6D4-4F82-866A-FF8A142596D6}" dt="2026-04-12T09:25:30.396" v="1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Muhammadjon Matchanov" userId="baf7a3612ef7e372" providerId="LiveId" clId="{33EE1F60-C6D4-4F82-866A-FF8A142596D6}" dt="2026-04-12T09:28:42.620" v="13" actId="1076"/>
        <pc:sldMkLst>
          <pc:docMk/>
          <pc:sldMk cId="0" sldId="272"/>
        </pc:sldMkLst>
        <pc:spChg chg="mod">
          <ac:chgData name="Muhammadjon Matchanov" userId="baf7a3612ef7e372" providerId="LiveId" clId="{33EE1F60-C6D4-4F82-866A-FF8A142596D6}" dt="2026-04-12T09:27:34.024" v="9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Muhammadjon Matchanov" userId="baf7a3612ef7e372" providerId="LiveId" clId="{33EE1F60-C6D4-4F82-866A-FF8A142596D6}" dt="2026-04-12T09:27:58.109" v="10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Muhammadjon Matchanov" userId="baf7a3612ef7e372" providerId="LiveId" clId="{33EE1F60-C6D4-4F82-866A-FF8A142596D6}" dt="2026-04-12T09:27:17.770" v="8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Muhammadjon Matchanov" userId="baf7a3612ef7e372" providerId="LiveId" clId="{33EE1F60-C6D4-4F82-866A-FF8A142596D6}" dt="2026-04-12T09:27:01.242" v="7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Muhammadjon Matchanov" userId="baf7a3612ef7e372" providerId="LiveId" clId="{33EE1F60-C6D4-4F82-866A-FF8A142596D6}" dt="2026-04-12T09:28:42.620" v="13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Muhammadjon Matchanov" userId="baf7a3612ef7e372" providerId="LiveId" clId="{33EE1F60-C6D4-4F82-866A-FF8A142596D6}" dt="2026-04-12T09:28:27.357" v="12" actId="1076"/>
          <ac:spMkLst>
            <pc:docMk/>
            <pc:sldMk cId="0" sldId="272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30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jpe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285750"/>
            <a:ext cx="56578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2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DIPLOM ISHI HIMOYASI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28650" y="719733"/>
            <a:ext cx="5657850" cy="396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kern="0" spc="-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DASTURLASH KOMPETENSIYALARINI RIVOJLANTIRISHGA YO'NALTIRILGAN GAMIFIKATSIYA ASOSLANGAN WEB SAYT YARATISH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6572250" y="285750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 NOMI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572250" y="534330"/>
            <a:ext cx="7000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338" y="550404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72250" y="798649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BAJARUVCHI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6572250" y="1047229"/>
            <a:ext cx="2286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Talaba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6572250" y="1311548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UNIVERSITET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6572250" y="1560128"/>
            <a:ext cx="726161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TATU, 2026</a:t>
            </a:r>
            <a:endParaRPr lang="en-US" sz="1193" dirty="0"/>
          </a:p>
        </p:txBody>
      </p:sp>
      <p:sp>
        <p:nvSpPr>
          <p:cNvPr id="12" name="Shape 8"/>
          <p:cNvSpPr/>
          <p:nvPr/>
        </p:nvSpPr>
        <p:spPr>
          <a:xfrm>
            <a:off x="285750" y="4693444"/>
            <a:ext cx="857250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285750" y="4693444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285750" y="4807744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8620720" y="4807744"/>
            <a:ext cx="2375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18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Muammoning dolzarbligi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009055"/>
            <a:ext cx="4071938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O'zbekistonda IT ta'limida katta bo'shliq mavjud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648420"/>
            <a:ext cx="4071938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mutaxassislarga yillik talab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50,000+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ta'lim tizimi esa </a:t>
            </a: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28,000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bitiruvchi tayyorlaydi — yillik ~22,000 kishilik bo'shliq mavjud.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428625" y="2494173"/>
            <a:ext cx="4071938" cy="250801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C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485775" y="2551323"/>
            <a:ext cx="39576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Asosiy muammolar: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42925" y="2826358"/>
            <a:ext cx="1907381" cy="99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Dasturlash kurslarini boshlaganlarning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birinchi 3 oyda tark etishi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542925" y="3877828"/>
            <a:ext cx="1907381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 tilida sifatli dasturlash platformasi mavjud emas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2536031" y="2826358"/>
            <a:ext cx="1907381" cy="99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Mavjud platformalar (Codecademy, Sololearn) o'zbek tilini qo'llamaydi</a:t>
            </a:r>
            <a:endParaRPr lang="en-US" sz="1269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696792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650" y="4682505"/>
            <a:ext cx="36629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Asosiy sabab: Motivatsiya etishmasligi va tilga to'siq</a:t>
            </a:r>
            <a:endParaRPr lang="en-US" sz="987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1066205"/>
            <a:ext cx="4071938" cy="14287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8625" y="4714875"/>
            <a:ext cx="8286750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0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1"/>
          <p:cNvSpPr/>
          <p:nvPr/>
        </p:nvSpPr>
        <p:spPr>
          <a:xfrm>
            <a:off x="428625" y="4807744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17" name="Text 12"/>
          <p:cNvSpPr/>
          <p:nvPr/>
        </p:nvSpPr>
        <p:spPr>
          <a:xfrm>
            <a:off x="8458200" y="4807744"/>
            <a:ext cx="2571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18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Tadqiqotning maqsad va vazifalari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980480"/>
            <a:ext cx="8572500" cy="105833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285750" y="980480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8851106" y="980480"/>
            <a:ext cx="7144" cy="1058335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285750" y="2031671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285750" y="980480"/>
            <a:ext cx="28575" cy="1058335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71475" y="1066205"/>
            <a:ext cx="84010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Maqsad: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371475" y="1400175"/>
            <a:ext cx="8401050" cy="53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77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 tilida gamifikatsiya asoslangan interaktiv dasturlash ta'limi platformasi yaratish va uning samaradorligini ilmiy asoslash.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285750" y="2238840"/>
            <a:ext cx="421481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Asosiy vazifalar: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57200" y="2572810"/>
            <a:ext cx="1950244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Gamifikatsiyaning ta'limdagi nazariy asoslarini o'rganish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57200" y="3375701"/>
            <a:ext cx="1950244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Duolingo va boshqa platformalar tajribasini tahlil qilish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457200" y="2572810"/>
            <a:ext cx="4043363" cy="2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platformasini loyihalash va ishlab chiqish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2550319" y="2878541"/>
            <a:ext cx="1950244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Pedagogik eksperiment o'tkazish va natijalarni tahlil qilish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2550319" y="3681431"/>
            <a:ext cx="1950244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Platformaning samaradorligini baholash</a:t>
            </a:r>
            <a:endParaRPr lang="en-US" sz="1269" dirty="0"/>
          </a:p>
        </p:txBody>
      </p:sp>
      <p:sp>
        <p:nvSpPr>
          <p:cNvPr id="17" name="Shape 14"/>
          <p:cNvSpPr/>
          <p:nvPr/>
        </p:nvSpPr>
        <p:spPr>
          <a:xfrm>
            <a:off x="4643438" y="2238840"/>
            <a:ext cx="4214813" cy="2182639"/>
          </a:xfrm>
          <a:prstGeom prst="rect">
            <a:avLst/>
          </a:prstGeom>
          <a:solidFill>
            <a:srgbClr val="FF3366">
              <a:alpha val="5000"/>
            </a:srgbClr>
          </a:solidFill>
          <a:ln w="9144">
            <a:solidFill>
              <a:srgbClr val="FF336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3" y="2349568"/>
            <a:ext cx="17145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00613" y="2324565"/>
            <a:ext cx="211276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Tadqiqot yangiligi:</a:t>
            </a:r>
            <a:endParaRPr lang="en-US" sz="1602" dirty="0"/>
          </a:p>
        </p:txBody>
      </p:sp>
      <p:sp>
        <p:nvSpPr>
          <p:cNvPr id="20" name="Text 16"/>
          <p:cNvSpPr/>
          <p:nvPr/>
        </p:nvSpPr>
        <p:spPr>
          <a:xfrm>
            <a:off x="4900613" y="2658535"/>
            <a:ext cx="3871913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 tilida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birinchi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gamifikatsiyalashgan dasturlash platformasi</a:t>
            </a:r>
            <a:endParaRPr lang="en-US" sz="1269" dirty="0"/>
          </a:p>
        </p:txBody>
      </p:sp>
      <p:sp>
        <p:nvSpPr>
          <p:cNvPr id="21" name="Text 17"/>
          <p:cNvSpPr/>
          <p:nvPr/>
        </p:nvSpPr>
        <p:spPr>
          <a:xfrm>
            <a:off x="4900613" y="3212846"/>
            <a:ext cx="3871913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foydalanuvchi darajasiga moslashuvchi sun'iy raqib tizimi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4900613" y="3767156"/>
            <a:ext cx="3871913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Radar Chart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ko'nikmalar profilini vizualizatsiya qilish</a:t>
            </a:r>
            <a:endParaRPr lang="en-US" sz="1193" dirty="0"/>
          </a:p>
        </p:txBody>
      </p:sp>
      <p:sp>
        <p:nvSpPr>
          <p:cNvPr id="23" name="Shape 19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0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8599289" y="4879181"/>
            <a:ext cx="2589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18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Gamifikatsiya nima va nima uchun ishlaydi?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80480"/>
            <a:ext cx="8572500" cy="53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95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Gamifikatsiya</a:t>
            </a:r>
            <a:r>
              <a:rPr lang="en-US" sz="1377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o'yin bo'lmagan kontekstlarda o'yin dizayni elementlaridan foydalanish orqali motivatsiya va ishtirokni oshirish metodologiyasi.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285750" y="1733420"/>
            <a:ext cx="501491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Psixologik asoslar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285750" y="2181690"/>
            <a:ext cx="1735513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NAZARIYA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021263" y="2181690"/>
            <a:ext cx="1300163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MUALLIF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321425" y="2181690"/>
            <a:ext cx="1979237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DUOKOD'DA QO'LLANILISHI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285750" y="2538878"/>
            <a:ext cx="5014913" cy="35183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285750" y="2538878"/>
            <a:ext cx="173551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O'z-o'zini belgilash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21263" y="2538878"/>
            <a:ext cx="130016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 &amp; Ryan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21425" y="2538878"/>
            <a:ext cx="1979237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XP, daraja, erkinlik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85750" y="2890707"/>
            <a:ext cx="1735513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Oqim nazariyasi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021263" y="2890707"/>
            <a:ext cx="1300163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Csikszentmihalyi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21425" y="2890707"/>
            <a:ext cx="1979237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 qiyinlik moslashuvi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5750" y="3415773"/>
            <a:ext cx="5014913" cy="35183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285750" y="3415773"/>
            <a:ext cx="173551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Operant konditsionlash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021263" y="3415773"/>
            <a:ext cx="130016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Skinner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21425" y="3415773"/>
            <a:ext cx="1979237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Streak, mukofot tizimi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85750" y="3767603"/>
            <a:ext cx="1735513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Yaqin rivojlanish zonasi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021263" y="3767603"/>
            <a:ext cx="1300163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Vygotsky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321425" y="3767603"/>
            <a:ext cx="1979237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 darslar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514975" y="1733420"/>
            <a:ext cx="3343275" cy="24342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C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1901298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886450" y="1876295"/>
            <a:ext cx="261639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Duolingo muvaffaqiyati</a:t>
            </a:r>
            <a:endParaRPr lang="en-US" sz="1602" dirty="0"/>
          </a:p>
        </p:txBody>
      </p:sp>
      <p:sp>
        <p:nvSpPr>
          <p:cNvPr id="26" name="Text 22"/>
          <p:cNvSpPr/>
          <p:nvPr/>
        </p:nvSpPr>
        <p:spPr>
          <a:xfrm>
            <a:off x="5829300" y="2274559"/>
            <a:ext cx="2886075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500+ mln foydalanuvchi, 40 tilda</a:t>
            </a:r>
            <a:endParaRPr lang="en-US" sz="1269" dirty="0"/>
          </a:p>
        </p:txBody>
      </p:sp>
      <p:sp>
        <p:nvSpPr>
          <p:cNvPr id="27" name="Text 23"/>
          <p:cNvSpPr/>
          <p:nvPr/>
        </p:nvSpPr>
        <p:spPr>
          <a:xfrm>
            <a:off x="5829300" y="2580289"/>
            <a:ext cx="2886075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Streak tizimi yordamida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kunlik faollik 3x oshgan</a:t>
            </a:r>
            <a:endParaRPr lang="en-US" sz="1269" dirty="0"/>
          </a:p>
        </p:txBody>
      </p:sp>
      <p:sp>
        <p:nvSpPr>
          <p:cNvPr id="28" name="Text 24"/>
          <p:cNvSpPr/>
          <p:nvPr/>
        </p:nvSpPr>
        <p:spPr>
          <a:xfrm>
            <a:off x="5829300" y="3134599"/>
            <a:ext cx="2886075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Gamifikatsiya yo'qotilganda foydalanuvchilar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16% kamaygan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(A/B test natijalari)</a:t>
            </a:r>
            <a:endParaRPr lang="en-US" sz="1269" dirty="0"/>
          </a:p>
        </p:txBody>
      </p:sp>
      <p:sp>
        <p:nvSpPr>
          <p:cNvPr id="29" name="Shape 25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6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7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8597503" y="4879181"/>
            <a:ext cx="2607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18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DuoKod platformasining konsepsiyasi va arxitekturasi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1418034"/>
            <a:ext cx="8572500" cy="7400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285750" y="1418034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8851106" y="1418034"/>
            <a:ext cx="7144" cy="740048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285750" y="2150938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285750" y="1418034"/>
            <a:ext cx="28575" cy="74004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00050" y="1532334"/>
            <a:ext cx="8343900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O'zbekiston o'quvchilari uchun mo'ljallangan, o'zbek tilida, Cyber-Neon dizaynida yaratilgan gamifikatsiyalashgan dasturlash ta'limi platformasi.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85750" y="2229520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Texnik arxitektura (JAMstack)</a:t>
            </a:r>
            <a:endParaRPr lang="en-US" sz="1602" dirty="0"/>
          </a:p>
        </p:txBody>
      </p:sp>
      <p:sp>
        <p:nvSpPr>
          <p:cNvPr id="11" name="Shape 8"/>
          <p:cNvSpPr/>
          <p:nvPr/>
        </p:nvSpPr>
        <p:spPr>
          <a:xfrm>
            <a:off x="285750" y="2577778"/>
            <a:ext cx="4179094" cy="1521619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285750" y="2577778"/>
            <a:ext cx="28575" cy="1521619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285750" y="2577778"/>
            <a:ext cx="4179094" cy="15216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Frontend: Next.js 14 + React 18 + TypeScript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Styling:  Tailwind CSS (Cyber-Neon dizayn)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Database: Supabase (PostgreSQL 15)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Auth:     Supabase Auth (JWT + OAuth2)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Hosting:  Vercel (CDN, Edge Network)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Editor:   Monaco Editor (VS Code engine)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Charts:   Chart.js + Recharts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285750" y="4156546"/>
            <a:ext cx="4179094" cy="625078"/>
          </a:xfrm>
          <a:prstGeom prst="rect">
            <a:avLst/>
          </a:prstGeom>
          <a:solidFill>
            <a:srgbClr val="33CCFF">
              <a:alpha val="5000"/>
            </a:srgbClr>
          </a:solidFill>
          <a:ln w="9144">
            <a:solidFill>
              <a:srgbClr val="33CC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4227984"/>
            <a:ext cx="630436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7188" y="4513734"/>
            <a:ext cx="63043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793" y="4374431"/>
            <a:ext cx="150019" cy="171450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5981" y="4227984"/>
            <a:ext cx="684014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35981" y="4513734"/>
            <a:ext cx="68401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165" y="4374431"/>
            <a:ext cx="150019" cy="17145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8353" y="4227984"/>
            <a:ext cx="425053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68353" y="4513734"/>
            <a:ext cx="42505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4679156" y="2229520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Ishlash ko'rsatkichlari</a:t>
            </a:r>
            <a:endParaRPr lang="en-US" sz="1602" dirty="0"/>
          </a:p>
        </p:txBody>
      </p:sp>
      <p:sp>
        <p:nvSpPr>
          <p:cNvPr id="24" name="Shape 16"/>
          <p:cNvSpPr/>
          <p:nvPr/>
        </p:nvSpPr>
        <p:spPr>
          <a:xfrm>
            <a:off x="4679156" y="2577778"/>
            <a:ext cx="2032397" cy="719733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17"/>
          <p:cNvSpPr/>
          <p:nvPr/>
        </p:nvSpPr>
        <p:spPr>
          <a:xfrm>
            <a:off x="4679156" y="2577778"/>
            <a:ext cx="28575" cy="719733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18"/>
          <p:cNvSpPr/>
          <p:nvPr/>
        </p:nvSpPr>
        <p:spPr>
          <a:xfrm>
            <a:off x="4764881" y="2663503"/>
            <a:ext cx="186094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94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27" name="Text 19"/>
          <p:cNvSpPr/>
          <p:nvPr/>
        </p:nvSpPr>
        <p:spPr>
          <a:xfrm>
            <a:off x="4764881" y="3074268"/>
            <a:ext cx="18609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LIGHTHOUSE PERFORMANCE</a:t>
            </a:r>
            <a:endParaRPr lang="en-US" sz="834" dirty="0"/>
          </a:p>
        </p:txBody>
      </p:sp>
      <p:sp>
        <p:nvSpPr>
          <p:cNvPr id="28" name="Shape 20"/>
          <p:cNvSpPr/>
          <p:nvPr/>
        </p:nvSpPr>
        <p:spPr>
          <a:xfrm>
            <a:off x="6825853" y="2577778"/>
            <a:ext cx="2032397" cy="719733"/>
          </a:xfrm>
          <a:prstGeom prst="rect">
            <a:avLst/>
          </a:prstGeom>
          <a:solidFill>
            <a:srgbClr val="33CCFF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1"/>
          <p:cNvSpPr/>
          <p:nvPr/>
        </p:nvSpPr>
        <p:spPr>
          <a:xfrm>
            <a:off x="6825853" y="2577778"/>
            <a:ext cx="28575" cy="719733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2"/>
          <p:cNvSpPr/>
          <p:nvPr/>
        </p:nvSpPr>
        <p:spPr>
          <a:xfrm>
            <a:off x="6911578" y="2663503"/>
            <a:ext cx="186094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1.2s</a:t>
            </a:r>
            <a:endParaRPr lang="en-US" sz="2121" dirty="0"/>
          </a:p>
        </p:txBody>
      </p:sp>
      <p:sp>
        <p:nvSpPr>
          <p:cNvPr id="31" name="Text 23"/>
          <p:cNvSpPr/>
          <p:nvPr/>
        </p:nvSpPr>
        <p:spPr>
          <a:xfrm>
            <a:off x="6911578" y="3074268"/>
            <a:ext cx="18609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LCP (YUKLANISH TEZLIGI)</a:t>
            </a:r>
            <a:endParaRPr lang="en-US" sz="834" dirty="0"/>
          </a:p>
        </p:txBody>
      </p:sp>
      <p:sp>
        <p:nvSpPr>
          <p:cNvPr id="32" name="Shape 24"/>
          <p:cNvSpPr/>
          <p:nvPr/>
        </p:nvSpPr>
        <p:spPr>
          <a:xfrm>
            <a:off x="4679156" y="3411810"/>
            <a:ext cx="2032397" cy="719733"/>
          </a:xfrm>
          <a:prstGeom prst="rect">
            <a:avLst/>
          </a:prstGeom>
          <a:solidFill>
            <a:srgbClr val="33CCFF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25"/>
          <p:cNvSpPr/>
          <p:nvPr/>
        </p:nvSpPr>
        <p:spPr>
          <a:xfrm>
            <a:off x="4679156" y="3411810"/>
            <a:ext cx="28575" cy="719733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6"/>
          <p:cNvSpPr/>
          <p:nvPr/>
        </p:nvSpPr>
        <p:spPr>
          <a:xfrm>
            <a:off x="4764881" y="3497535"/>
            <a:ext cx="186094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35" name="Text 27"/>
          <p:cNvSpPr/>
          <p:nvPr/>
        </p:nvSpPr>
        <p:spPr>
          <a:xfrm>
            <a:off x="4764881" y="3908301"/>
            <a:ext cx="18609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834" dirty="0"/>
          </a:p>
        </p:txBody>
      </p:sp>
      <p:sp>
        <p:nvSpPr>
          <p:cNvPr id="36" name="Shape 28"/>
          <p:cNvSpPr/>
          <p:nvPr/>
        </p:nvSpPr>
        <p:spPr>
          <a:xfrm>
            <a:off x="6825853" y="3411810"/>
            <a:ext cx="2032397" cy="719733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29"/>
          <p:cNvSpPr/>
          <p:nvPr/>
        </p:nvSpPr>
        <p:spPr>
          <a:xfrm>
            <a:off x="6825853" y="3411810"/>
            <a:ext cx="28575" cy="719733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0"/>
          <p:cNvSpPr/>
          <p:nvPr/>
        </p:nvSpPr>
        <p:spPr>
          <a:xfrm>
            <a:off x="6911578" y="3497535"/>
            <a:ext cx="186094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39" name="Text 31"/>
          <p:cNvSpPr/>
          <p:nvPr/>
        </p:nvSpPr>
        <p:spPr>
          <a:xfrm>
            <a:off x="6911578" y="3908301"/>
            <a:ext cx="18609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</a:t>
            </a:r>
            <a:endParaRPr lang="en-US" sz="834" dirty="0"/>
          </a:p>
        </p:txBody>
      </p:sp>
      <p:sp>
        <p:nvSpPr>
          <p:cNvPr id="40" name="Shape 32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Shape 33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4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43" name="Text 35"/>
          <p:cNvSpPr/>
          <p:nvPr/>
        </p:nvSpPr>
        <p:spPr>
          <a:xfrm>
            <a:off x="8602861" y="4879181"/>
            <a:ext cx="2553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18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Asosiy gamifikatsiya elementlari – XP va Streak tizimi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1418034"/>
            <a:ext cx="4221956" cy="25288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C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1528763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650" y="1503759"/>
            <a:ext cx="274498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XP (Tajriba Ballari) Tizimi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542925" y="1880592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Darsni yakunlash: </a:t>
            </a: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+50 XP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42925" y="2194917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Testni birinchi urinishda yechish: </a:t>
            </a: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 XP bonus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542925" y="2509242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Streak bonus (7 kunlik): </a:t>
            </a: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+2x XP multiplier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542925" y="2823567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AI'ni yengish: </a:t>
            </a: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+100–300 XP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542925" y="3137892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Daraja oshishi: har </a:t>
            </a:r>
            <a:r>
              <a:rPr lang="en-US" sz="1193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XP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yangi daraja</a:t>
            </a:r>
            <a:endParaRPr lang="en-US" sz="1269" dirty="0"/>
          </a:p>
        </p:txBody>
      </p:sp>
      <p:sp>
        <p:nvSpPr>
          <p:cNvPr id="12" name="Shape 8"/>
          <p:cNvSpPr/>
          <p:nvPr/>
        </p:nvSpPr>
        <p:spPr>
          <a:xfrm>
            <a:off x="371475" y="3466505"/>
            <a:ext cx="4050506" cy="380405"/>
          </a:xfrm>
          <a:prstGeom prst="rect">
            <a:avLst/>
          </a:prstGeom>
          <a:solidFill>
            <a:srgbClr val="000000">
              <a:alpha val="50000"/>
            </a:srgbClr>
          </a:solidFill>
          <a:ln w="9144">
            <a:solidFill>
              <a:srgbClr val="33C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428625" y="3523655"/>
            <a:ext cx="4464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Daraja 5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3654028" y="3523655"/>
            <a:ext cx="7108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/ 500 XP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428625" y="3704034"/>
            <a:ext cx="3936206" cy="7143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4636294" y="1418034"/>
            <a:ext cx="4221956" cy="234850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336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019" y="1528763"/>
            <a:ext cx="200025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2044" y="1503759"/>
            <a:ext cx="231636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Streak (Zanjir) Tizimi</a:t>
            </a:r>
            <a:endParaRPr lang="en-US" sz="1602" dirty="0"/>
          </a:p>
        </p:txBody>
      </p:sp>
      <p:sp>
        <p:nvSpPr>
          <p:cNvPr id="19" name="Text 14"/>
          <p:cNvSpPr/>
          <p:nvPr/>
        </p:nvSpPr>
        <p:spPr>
          <a:xfrm>
            <a:off x="4893469" y="1880592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 kuni o'rganish = streak oshadi</a:t>
            </a:r>
            <a:endParaRPr lang="en-US" sz="1269" dirty="0"/>
          </a:p>
        </p:txBody>
      </p:sp>
      <p:sp>
        <p:nvSpPr>
          <p:cNvPr id="20" name="Text 15"/>
          <p:cNvSpPr/>
          <p:nvPr/>
        </p:nvSpPr>
        <p:spPr>
          <a:xfrm>
            <a:off x="4893469" y="2194917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kunlik streak →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nishon + XP bonus</a:t>
            </a:r>
            <a:endParaRPr lang="en-US" sz="1269" dirty="0"/>
          </a:p>
        </p:txBody>
      </p:sp>
      <p:sp>
        <p:nvSpPr>
          <p:cNvPr id="21" name="Text 16"/>
          <p:cNvSpPr/>
          <p:nvPr/>
        </p:nvSpPr>
        <p:spPr>
          <a:xfrm>
            <a:off x="4893469" y="2509242"/>
            <a:ext cx="38790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kunlik streak → </a:t>
            </a: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maxsus avatar ramkasi</a:t>
            </a:r>
            <a:endParaRPr lang="en-US" sz="1269" dirty="0"/>
          </a:p>
        </p:txBody>
      </p:sp>
      <p:sp>
        <p:nvSpPr>
          <p:cNvPr id="22" name="Text 17"/>
          <p:cNvSpPr/>
          <p:nvPr/>
        </p:nvSpPr>
        <p:spPr>
          <a:xfrm>
            <a:off x="4893469" y="2823567"/>
            <a:ext cx="38790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Streak Freeze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2 ta zaxira (kasallik/band bo'lganda)</a:t>
            </a:r>
            <a:endParaRPr lang="en-US" sz="1193" dirty="0"/>
          </a:p>
        </p:txBody>
      </p:sp>
      <p:sp>
        <p:nvSpPr>
          <p:cNvPr id="23" name="Shape 18"/>
          <p:cNvSpPr/>
          <p:nvPr/>
        </p:nvSpPr>
        <p:spPr>
          <a:xfrm>
            <a:off x="5990034" y="3409355"/>
            <a:ext cx="257175" cy="257175"/>
          </a:xfrm>
          <a:prstGeom prst="rect">
            <a:avLst/>
          </a:prstGeom>
          <a:solidFill>
            <a:srgbClr val="FF3366">
              <a:alpha val="20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72" y="3480792"/>
            <a:ext cx="114300" cy="1143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304359" y="3409355"/>
            <a:ext cx="257175" cy="257175"/>
          </a:xfrm>
          <a:prstGeom prst="rect">
            <a:avLst/>
          </a:prstGeom>
          <a:solidFill>
            <a:srgbClr val="FF3366">
              <a:alpha val="20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797" y="3480792"/>
            <a:ext cx="114300" cy="114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618684" y="3409355"/>
            <a:ext cx="257175" cy="257175"/>
          </a:xfrm>
          <a:prstGeom prst="rect">
            <a:avLst/>
          </a:prstGeom>
          <a:solidFill>
            <a:srgbClr val="FF3366">
              <a:alpha val="20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122" y="3480792"/>
            <a:ext cx="114300" cy="1143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33009" y="3409355"/>
            <a:ext cx="257175" cy="257175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2"/>
          <p:cNvSpPr/>
          <p:nvPr/>
        </p:nvSpPr>
        <p:spPr>
          <a:xfrm>
            <a:off x="6933009" y="340935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84" dirty="0"/>
          </a:p>
        </p:txBody>
      </p:sp>
      <p:sp>
        <p:nvSpPr>
          <p:cNvPr id="31" name="Shape 23"/>
          <p:cNvSpPr/>
          <p:nvPr/>
        </p:nvSpPr>
        <p:spPr>
          <a:xfrm>
            <a:off x="7247334" y="3409355"/>
            <a:ext cx="257175" cy="2571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4"/>
          <p:cNvSpPr/>
          <p:nvPr/>
        </p:nvSpPr>
        <p:spPr>
          <a:xfrm>
            <a:off x="7247334" y="340935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34" dirty="0"/>
          </a:p>
        </p:txBody>
      </p:sp>
      <p:sp>
        <p:nvSpPr>
          <p:cNvPr id="33" name="Shape 25"/>
          <p:cNvSpPr/>
          <p:nvPr/>
        </p:nvSpPr>
        <p:spPr>
          <a:xfrm>
            <a:off x="285750" y="4061222"/>
            <a:ext cx="8572500" cy="485775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26"/>
          <p:cNvSpPr/>
          <p:nvPr/>
        </p:nvSpPr>
        <p:spPr>
          <a:xfrm>
            <a:off x="285750" y="4061222"/>
            <a:ext cx="28575" cy="485775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27"/>
          <p:cNvSpPr/>
          <p:nvPr/>
        </p:nvSpPr>
        <p:spPr>
          <a:xfrm>
            <a:off x="357188" y="4132659"/>
            <a:ext cx="8429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Sinov natijasi:</a:t>
            </a: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Streak tizimi o'quvchilarning kunlik faolligini </a:t>
            </a:r>
            <a:r>
              <a:rPr lang="en-US" sz="1602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3.2x</a:t>
            </a: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oshirdi.</a:t>
            </a:r>
            <a:endParaRPr lang="en-US" sz="1269" dirty="0"/>
          </a:p>
        </p:txBody>
      </p:sp>
      <p:sp>
        <p:nvSpPr>
          <p:cNvPr id="36" name="Shape 28"/>
          <p:cNvSpPr/>
          <p:nvPr/>
        </p:nvSpPr>
        <p:spPr>
          <a:xfrm>
            <a:off x="285750" y="4829175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29"/>
          <p:cNvSpPr/>
          <p:nvPr/>
        </p:nvSpPr>
        <p:spPr>
          <a:xfrm>
            <a:off x="285750" y="4829175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0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39" name="Text 31"/>
          <p:cNvSpPr/>
          <p:nvPr/>
        </p:nvSpPr>
        <p:spPr>
          <a:xfrm>
            <a:off x="8599289" y="4879181"/>
            <a:ext cx="2589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18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Boss AI – Moslashuvchan sun'iy raqib tizimi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980480"/>
            <a:ext cx="8572500" cy="7400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285750" y="980480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8851106" y="980480"/>
            <a:ext cx="7144" cy="740048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285750" y="1713384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285750" y="980480"/>
            <a:ext cx="28575" cy="7400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00050" y="1094780"/>
            <a:ext cx="8343900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 nima?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O'quvchining hozirgi darajasiga moslashuvchi sun'iy intellekt raqibi. O'quvchi Boss AI bilan "kod jangi" qiladi – kim tezroq va to'g'riroq yechim topsa, g'olib bo'ladi.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85750" y="1820540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Qiyinlik moslashuvi algoritmi</a:t>
            </a:r>
            <a:endParaRPr lang="en-US" sz="1602" dirty="0"/>
          </a:p>
        </p:txBody>
      </p:sp>
      <p:sp>
        <p:nvSpPr>
          <p:cNvPr id="11" name="Shape 8"/>
          <p:cNvSpPr/>
          <p:nvPr/>
        </p:nvSpPr>
        <p:spPr>
          <a:xfrm>
            <a:off x="285750" y="2183085"/>
            <a:ext cx="4179094" cy="177165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285750" y="2183085"/>
            <a:ext cx="28575" cy="1771650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285750" y="2183085"/>
            <a:ext cx="4179094" cy="17716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Agar oxirgi 5 jangda g'alaba ≥ 4: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→ Boss qiyinligi oshadi (+1 daraja)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Agar oxirgi 5 jangda g'alaba ≤ 2: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→ Boss qiyinligi tushadi (-1 daraja)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Agar g'alaba = 3: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→ Daraja o'zgarmaydi (optimal zona)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285750" y="4140473"/>
            <a:ext cx="4179094" cy="746494"/>
          </a:xfrm>
          <a:prstGeom prst="rect">
            <a:avLst/>
          </a:prstGeom>
          <a:solidFill>
            <a:srgbClr val="33CCFF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285750" y="4140473"/>
            <a:ext cx="28575" cy="746494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4286920"/>
            <a:ext cx="157163" cy="15716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1861" y="4272632"/>
            <a:ext cx="4893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Natija:</a:t>
            </a:r>
            <a:endParaRPr lang="en-US" sz="1090" dirty="0"/>
          </a:p>
        </p:txBody>
      </p:sp>
      <p:sp>
        <p:nvSpPr>
          <p:cNvPr id="18" name="Text 14"/>
          <p:cNvSpPr/>
          <p:nvPr/>
        </p:nvSpPr>
        <p:spPr>
          <a:xfrm>
            <a:off x="1091208" y="4272632"/>
            <a:ext cx="24895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 tizimi o'quvchilarning o'z</a:t>
            </a:r>
            <a:endParaRPr lang="en-US" sz="1159" dirty="0"/>
          </a:p>
        </p:txBody>
      </p:sp>
      <p:sp>
        <p:nvSpPr>
          <p:cNvPr id="19" name="Text 15"/>
          <p:cNvSpPr/>
          <p:nvPr/>
        </p:nvSpPr>
        <p:spPr>
          <a:xfrm>
            <a:off x="400050" y="4548727"/>
            <a:ext cx="204489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darajasida qolish ehtimolini</a:t>
            </a:r>
            <a:endParaRPr lang="en-US" sz="1159" dirty="0"/>
          </a:p>
        </p:txBody>
      </p:sp>
      <p:sp>
        <p:nvSpPr>
          <p:cNvPr id="20" name="Text 16"/>
          <p:cNvSpPr/>
          <p:nvPr/>
        </p:nvSpPr>
        <p:spPr>
          <a:xfrm>
            <a:off x="2444948" y="4505865"/>
            <a:ext cx="45898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97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1397" dirty="0"/>
          </a:p>
        </p:txBody>
      </p:sp>
      <p:sp>
        <p:nvSpPr>
          <p:cNvPr id="21" name="Text 17"/>
          <p:cNvSpPr/>
          <p:nvPr/>
        </p:nvSpPr>
        <p:spPr>
          <a:xfrm>
            <a:off x="2903934" y="4548727"/>
            <a:ext cx="8554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kamaytirdi.</a:t>
            </a:r>
            <a:endParaRPr lang="en-US" sz="1159" dirty="0"/>
          </a:p>
        </p:txBody>
      </p:sp>
      <p:sp>
        <p:nvSpPr>
          <p:cNvPr id="22" name="Text 18"/>
          <p:cNvSpPr/>
          <p:nvPr/>
        </p:nvSpPr>
        <p:spPr>
          <a:xfrm>
            <a:off x="4679156" y="1820540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Boss turlari (5 daraja)</a:t>
            </a:r>
            <a:endParaRPr lang="en-US" sz="1602" dirty="0"/>
          </a:p>
        </p:txBody>
      </p:sp>
      <p:sp>
        <p:nvSpPr>
          <p:cNvPr id="23" name="Text 19"/>
          <p:cNvSpPr/>
          <p:nvPr/>
        </p:nvSpPr>
        <p:spPr>
          <a:xfrm>
            <a:off x="4679156" y="2254523"/>
            <a:ext cx="792119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DARAJA</a:t>
            </a:r>
            <a:endParaRPr lang="en-US" sz="987" dirty="0"/>
          </a:p>
        </p:txBody>
      </p:sp>
      <p:sp>
        <p:nvSpPr>
          <p:cNvPr id="24" name="Text 20"/>
          <p:cNvSpPr/>
          <p:nvPr/>
        </p:nvSpPr>
        <p:spPr>
          <a:xfrm>
            <a:off x="5471275" y="2254523"/>
            <a:ext cx="1030374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BOSS NOMI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6501650" y="2254523"/>
            <a:ext cx="1153464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QIYINLIK</a:t>
            </a:r>
            <a:endParaRPr lang="en-US" sz="987" dirty="0"/>
          </a:p>
        </p:txBody>
      </p:sp>
      <p:sp>
        <p:nvSpPr>
          <p:cNvPr id="26" name="Text 22"/>
          <p:cNvSpPr/>
          <p:nvPr/>
        </p:nvSpPr>
        <p:spPr>
          <a:xfrm>
            <a:off x="7655114" y="2254523"/>
            <a:ext cx="1203136" cy="3571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XP MUKOFOTI</a:t>
            </a:r>
            <a:endParaRPr lang="en-US" sz="987" dirty="0"/>
          </a:p>
        </p:txBody>
      </p:sp>
      <p:sp>
        <p:nvSpPr>
          <p:cNvPr id="27" name="Shape 23"/>
          <p:cNvSpPr/>
          <p:nvPr/>
        </p:nvSpPr>
        <p:spPr>
          <a:xfrm>
            <a:off x="4679156" y="2611710"/>
            <a:ext cx="4179094" cy="35183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4"/>
          <p:cNvSpPr/>
          <p:nvPr/>
        </p:nvSpPr>
        <p:spPr>
          <a:xfrm>
            <a:off x="4679156" y="2611710"/>
            <a:ext cx="79211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471275" y="2611710"/>
            <a:ext cx="103037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Glitch</a:t>
            </a:r>
            <a:endParaRPr lang="en-US" sz="987" dirty="0"/>
          </a:p>
        </p:txBody>
      </p:sp>
      <p:sp>
        <p:nvSpPr>
          <p:cNvPr id="30" name="Text 26"/>
          <p:cNvSpPr/>
          <p:nvPr/>
        </p:nvSpPr>
        <p:spPr>
          <a:xfrm>
            <a:off x="6501650" y="2611710"/>
            <a:ext cx="115346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Boshlang'ich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655114" y="2611710"/>
            <a:ext cx="1203136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XP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679156" y="2963540"/>
            <a:ext cx="79211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471275" y="2963540"/>
            <a:ext cx="103037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Cipher</a:t>
            </a:r>
            <a:endParaRPr lang="en-US" sz="987" dirty="0"/>
          </a:p>
        </p:txBody>
      </p:sp>
      <p:sp>
        <p:nvSpPr>
          <p:cNvPr id="34" name="Text 30"/>
          <p:cNvSpPr/>
          <p:nvPr/>
        </p:nvSpPr>
        <p:spPr>
          <a:xfrm>
            <a:off x="6501650" y="2963540"/>
            <a:ext cx="115346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O'rta-quyi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7655114" y="2963540"/>
            <a:ext cx="1203136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XP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679156" y="3315370"/>
            <a:ext cx="4179094" cy="35183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4679156" y="3315370"/>
            <a:ext cx="79211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5471275" y="3315370"/>
            <a:ext cx="103037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Nexus</a:t>
            </a:r>
            <a:endParaRPr lang="en-US" sz="987" dirty="0"/>
          </a:p>
        </p:txBody>
      </p:sp>
      <p:sp>
        <p:nvSpPr>
          <p:cNvPr id="39" name="Text 35"/>
          <p:cNvSpPr/>
          <p:nvPr/>
        </p:nvSpPr>
        <p:spPr>
          <a:xfrm>
            <a:off x="6501650" y="3315370"/>
            <a:ext cx="115346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O'rta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7655114" y="3315370"/>
            <a:ext cx="1203136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XP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4679156" y="3667199"/>
            <a:ext cx="79211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471275" y="3667199"/>
            <a:ext cx="103037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Phantom</a:t>
            </a:r>
            <a:endParaRPr lang="en-US" sz="987" dirty="0"/>
          </a:p>
        </p:txBody>
      </p:sp>
      <p:sp>
        <p:nvSpPr>
          <p:cNvPr id="43" name="Text 39"/>
          <p:cNvSpPr/>
          <p:nvPr/>
        </p:nvSpPr>
        <p:spPr>
          <a:xfrm>
            <a:off x="6501650" y="3667199"/>
            <a:ext cx="115346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O'rta-yuqori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7655114" y="3667199"/>
            <a:ext cx="1203136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XP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4679156" y="4019029"/>
            <a:ext cx="4179094" cy="35183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Text 42"/>
          <p:cNvSpPr/>
          <p:nvPr/>
        </p:nvSpPr>
        <p:spPr>
          <a:xfrm>
            <a:off x="4679156" y="4019029"/>
            <a:ext cx="79211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5471275" y="4019029"/>
            <a:ext cx="103037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Void</a:t>
            </a:r>
            <a:endParaRPr lang="en-US" sz="987" dirty="0"/>
          </a:p>
        </p:txBody>
      </p:sp>
      <p:sp>
        <p:nvSpPr>
          <p:cNvPr id="48" name="Text 44"/>
          <p:cNvSpPr/>
          <p:nvPr/>
        </p:nvSpPr>
        <p:spPr>
          <a:xfrm>
            <a:off x="6501650" y="4019029"/>
            <a:ext cx="115346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Yuqori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7655114" y="4019029"/>
            <a:ext cx="1203136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XP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Shape 47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8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53" name="Text 49"/>
          <p:cNvSpPr/>
          <p:nvPr/>
        </p:nvSpPr>
        <p:spPr>
          <a:xfrm>
            <a:off x="8604647" y="4879181"/>
            <a:ext cx="2536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18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Radar Chart – Ko'nikmalar profili vizualizatsiyasi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360884"/>
            <a:ext cx="8572500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O'quvchining 6 ta asosiy ko'nikma bo'yicha darajasi (interaktiv diagramma).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695190"/>
            <a:ext cx="4243388" cy="238266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C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42900" y="1752340"/>
            <a:ext cx="412908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ta ko'nikma toifasi: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14350" y="2105955"/>
            <a:ext cx="7518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Sintaksis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14350" y="2425973"/>
            <a:ext cx="5750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Font typeface="+mj-lt"/>
              <a:buAutoNum type="arabicPeriod" startAt="2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Mantiq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14350" y="2745991"/>
            <a:ext cx="91975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Font typeface="+mj-lt"/>
              <a:buAutoNum type="arabicPeriod" startAt="3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Algoritmlar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14350" y="3066008"/>
            <a:ext cx="9090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Font typeface="+mj-lt"/>
              <a:buAutoNum type="arabicPeriod" startAt="4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14350" y="3386026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Font typeface="+mj-lt"/>
              <a:buAutoNum type="arabicPeriod" startAt="5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Ma'lumotlar tuzilmalari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14350" y="3706044"/>
            <a:ext cx="3750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Font typeface="+mj-lt"/>
              <a:buAutoNum type="arabicPeriod" startAt="6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614863" y="1695190"/>
            <a:ext cx="4243388" cy="157162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00FF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766627"/>
            <a:ext cx="4100513" cy="14287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27026" y="3266815"/>
            <a:ext cx="3819032" cy="138689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4884176" y="3323965"/>
            <a:ext cx="3704732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Foydalari:</a:t>
            </a:r>
            <a:endParaRPr lang="en-US" sz="1397" dirty="0"/>
          </a:p>
        </p:txBody>
      </p:sp>
      <p:sp>
        <p:nvSpPr>
          <p:cNvPr id="17" name="Text 13"/>
          <p:cNvSpPr/>
          <p:nvPr/>
        </p:nvSpPr>
        <p:spPr>
          <a:xfrm>
            <a:off x="5055626" y="3622216"/>
            <a:ext cx="3533282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O'quvchi zaif tomonlarini ko'radi</a:t>
            </a:r>
            <a:endParaRPr lang="en-US" sz="1269" dirty="0"/>
          </a:p>
        </p:txBody>
      </p:sp>
      <p:sp>
        <p:nvSpPr>
          <p:cNvPr id="18" name="Text 14"/>
          <p:cNvSpPr/>
          <p:nvPr/>
        </p:nvSpPr>
        <p:spPr>
          <a:xfrm>
            <a:off x="5055626" y="3942234"/>
            <a:ext cx="3533282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 zaif sohalarni tavsiya qiladi</a:t>
            </a:r>
            <a:endParaRPr lang="en-US" sz="1269" dirty="0"/>
          </a:p>
        </p:txBody>
      </p:sp>
      <p:sp>
        <p:nvSpPr>
          <p:cNvPr id="19" name="Text 15"/>
          <p:cNvSpPr/>
          <p:nvPr/>
        </p:nvSpPr>
        <p:spPr>
          <a:xfrm>
            <a:off x="5055626" y="4262251"/>
            <a:ext cx="3533282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O'qituvchi profilni kuzatadi</a:t>
            </a:r>
            <a:endParaRPr lang="en-US" sz="1269" dirty="0"/>
          </a:p>
        </p:txBody>
      </p:sp>
      <p:sp>
        <p:nvSpPr>
          <p:cNvPr id="20" name="Shape 16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7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8599289" y="4879181"/>
            <a:ext cx="2589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18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Ma'lumotlar bazasi va xavfsizlik – Supabase + RLS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062633"/>
            <a:ext cx="20002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037630"/>
            <a:ext cx="362366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Ma'lumotlar bazasi arxitekturasi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457200" y="1414463"/>
            <a:ext cx="4174824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(PostgreSQL 15) – Backend as a Service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457200" y="1748768"/>
            <a:ext cx="4174824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ta asosiy jadval: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users, courses, lessons, user_progress, streaks, badges, skill_scores, boss_fights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57200" y="2580233"/>
            <a:ext cx="4174824" cy="248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Normalizatsiya: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3NF (Uchinchi Normal Forma)</a:t>
            </a:r>
            <a:endParaRPr lang="en-US" sz="119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196717"/>
            <a:ext cx="200025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" y="3171713"/>
            <a:ext cx="2794992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Row Level Security (RLS)</a:t>
            </a:r>
            <a:endParaRPr lang="en-US" sz="1602" dirty="0"/>
          </a:p>
        </p:txBody>
      </p:sp>
      <p:sp>
        <p:nvSpPr>
          <p:cNvPr id="11" name="Shape 6"/>
          <p:cNvSpPr/>
          <p:nvPr/>
        </p:nvSpPr>
        <p:spPr>
          <a:xfrm>
            <a:off x="285750" y="3548546"/>
            <a:ext cx="4346274" cy="807244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7"/>
          <p:cNvSpPr/>
          <p:nvPr/>
        </p:nvSpPr>
        <p:spPr>
          <a:xfrm>
            <a:off x="285750" y="3548546"/>
            <a:ext cx="28575" cy="807244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8"/>
          <p:cNvSpPr/>
          <p:nvPr/>
        </p:nvSpPr>
        <p:spPr>
          <a:xfrm>
            <a:off x="285750" y="3548546"/>
            <a:ext cx="4346274" cy="8072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-- Foydalanuvchi faqat o'z ma'lumotlarini ko'ra oladi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CREATE POLICY "own_data_only" ON user_progress</a:t>
            </a:r>
            <a:endParaRPr lang="en-US" sz="942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00FF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FOR SELECT USING (auth.uid() = user_id);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817762" y="1037630"/>
            <a:ext cx="4040488" cy="386298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408" y="12055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20008" y="1180505"/>
            <a:ext cx="226456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Xavfsizlik qatlamlari</a:t>
            </a:r>
            <a:endParaRPr lang="en-US" sz="1602" dirty="0"/>
          </a:p>
        </p:txBody>
      </p:sp>
      <p:sp>
        <p:nvSpPr>
          <p:cNvPr id="17" name="Text 11"/>
          <p:cNvSpPr/>
          <p:nvPr/>
        </p:nvSpPr>
        <p:spPr>
          <a:xfrm>
            <a:off x="4960637" y="1585913"/>
            <a:ext cx="1319557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QATLAM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6280193" y="1585913"/>
            <a:ext cx="1164041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TEXNOLOGIYA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7444234" y="1585913"/>
            <a:ext cx="1271141" cy="38576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HIMOYA TURI</a:t>
            </a:r>
            <a:endParaRPr lang="en-US" sz="987" dirty="0"/>
          </a:p>
        </p:txBody>
      </p:sp>
      <p:sp>
        <p:nvSpPr>
          <p:cNvPr id="20" name="Shape 14"/>
          <p:cNvSpPr/>
          <p:nvPr/>
        </p:nvSpPr>
        <p:spPr>
          <a:xfrm>
            <a:off x="4960637" y="1971675"/>
            <a:ext cx="3754738" cy="55364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5"/>
          <p:cNvSpPr/>
          <p:nvPr/>
        </p:nvSpPr>
        <p:spPr>
          <a:xfrm>
            <a:off x="4960637" y="1971675"/>
            <a:ext cx="1319557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6280193" y="1971675"/>
            <a:ext cx="1164041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TLS 1.3 (HTTPS)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444234" y="1971675"/>
            <a:ext cx="1271141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Uzatma shifrlash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960637" y="2525316"/>
            <a:ext cx="1319557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Autentifikatsiya</a:t>
            </a:r>
            <a:endParaRPr lang="en-US" sz="987" dirty="0"/>
          </a:p>
        </p:txBody>
      </p:sp>
      <p:sp>
        <p:nvSpPr>
          <p:cNvPr id="25" name="Text 19"/>
          <p:cNvSpPr/>
          <p:nvPr/>
        </p:nvSpPr>
        <p:spPr>
          <a:xfrm>
            <a:off x="6280193" y="2525316"/>
            <a:ext cx="1164041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(256-bit)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444234" y="2525316"/>
            <a:ext cx="1271141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Foydalanuvchi tekshiruvi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960637" y="3078956"/>
            <a:ext cx="3754738" cy="72687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2"/>
          <p:cNvSpPr/>
          <p:nvPr/>
        </p:nvSpPr>
        <p:spPr>
          <a:xfrm>
            <a:off x="4960637" y="3078956"/>
            <a:ext cx="1319557" cy="72687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Ma'lumotlar bazasi</a:t>
            </a:r>
            <a:endParaRPr lang="en-US" sz="987" dirty="0"/>
          </a:p>
        </p:txBody>
      </p:sp>
      <p:sp>
        <p:nvSpPr>
          <p:cNvPr id="29" name="Text 23"/>
          <p:cNvSpPr/>
          <p:nvPr/>
        </p:nvSpPr>
        <p:spPr>
          <a:xfrm>
            <a:off x="6280193" y="3078956"/>
            <a:ext cx="1164041" cy="72687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(PostgreSQL)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7444234" y="3078956"/>
            <a:ext cx="1271141" cy="72687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Qator darajasida kirish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960637" y="3805833"/>
            <a:ext cx="1319557" cy="38040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987" dirty="0"/>
          </a:p>
        </p:txBody>
      </p:sp>
      <p:sp>
        <p:nvSpPr>
          <p:cNvPr id="32" name="Text 26"/>
          <p:cNvSpPr/>
          <p:nvPr/>
        </p:nvSpPr>
        <p:spPr>
          <a:xfrm>
            <a:off x="6280193" y="3805833"/>
            <a:ext cx="1164041" cy="38040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444234" y="3805833"/>
            <a:ext cx="1271141" cy="38040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DDoS himoyasi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60637" y="4186238"/>
            <a:ext cx="3754738" cy="55364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29"/>
          <p:cNvSpPr/>
          <p:nvPr/>
        </p:nvSpPr>
        <p:spPr>
          <a:xfrm>
            <a:off x="4960637" y="4186238"/>
            <a:ext cx="1319557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Kirish nazorati</a:t>
            </a:r>
            <a:endParaRPr lang="en-US" sz="987" dirty="0"/>
          </a:p>
        </p:txBody>
      </p:sp>
      <p:sp>
        <p:nvSpPr>
          <p:cNvPr id="36" name="Text 30"/>
          <p:cNvSpPr/>
          <p:nvPr/>
        </p:nvSpPr>
        <p:spPr>
          <a:xfrm>
            <a:off x="6280193" y="4186238"/>
            <a:ext cx="1164041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7444234" y="4186238"/>
            <a:ext cx="1271141" cy="55364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asosida ruxsat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Shape 33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4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41" name="Text 35"/>
          <p:cNvSpPr/>
          <p:nvPr/>
        </p:nvSpPr>
        <p:spPr>
          <a:xfrm>
            <a:off x="8599289" y="4879181"/>
            <a:ext cx="2589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18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RBAC – Rolga asoslangan boshqaruv tizimi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80480"/>
            <a:ext cx="501491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ta foydalanuvchi roli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916605" cy="41433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202355" y="1414463"/>
            <a:ext cx="2744372" cy="41433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RUXSATLAR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946727" y="1414463"/>
            <a:ext cx="1353936" cy="414338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INTERFEYS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285750" y="1828800"/>
            <a:ext cx="5014913" cy="40898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285750" y="1828800"/>
            <a:ext cx="916605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1202355" y="1828800"/>
            <a:ext cx="2744372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Kurslar, darslar, testlar, Boss AI, profil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46727" y="1828800"/>
            <a:ext cx="1353936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O'quvchi paneli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5750" y="2237780"/>
            <a:ext cx="916605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202355" y="2237780"/>
            <a:ext cx="2744372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Kurs yaratish, o'quvchilar tahlili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46727" y="2237780"/>
            <a:ext cx="1353936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O'qituvchi paneli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85750" y="2646759"/>
            <a:ext cx="5014913" cy="40898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85750" y="2646759"/>
            <a:ext cx="916605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Moderator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1202355" y="2646759"/>
            <a:ext cx="2744372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Kontent moderatsiyasi, shikoyatlar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946727" y="2646759"/>
            <a:ext cx="1353936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Moderator paneli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85750" y="3055739"/>
            <a:ext cx="916605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1202355" y="3055739"/>
            <a:ext cx="2744372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To'liq boshqaruv, tizim sozlamalari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946727" y="3055739"/>
            <a:ext cx="1353936" cy="40898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paneli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14975" y="980480"/>
            <a:ext cx="3343275" cy="335667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1148358"/>
            <a:ext cx="28575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43600" y="1123355"/>
            <a:ext cx="147518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paneli</a:t>
            </a:r>
            <a:endParaRPr lang="en-US" sz="1602" dirty="0"/>
          </a:p>
        </p:txBody>
      </p:sp>
      <p:sp>
        <p:nvSpPr>
          <p:cNvPr id="25" name="Text 21"/>
          <p:cNvSpPr/>
          <p:nvPr/>
        </p:nvSpPr>
        <p:spPr>
          <a:xfrm>
            <a:off x="5657850" y="1414463"/>
            <a:ext cx="130552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funksiyalari</a:t>
            </a:r>
            <a:endParaRPr lang="en-US" sz="1602" dirty="0"/>
          </a:p>
        </p:txBody>
      </p:sp>
      <p:sp>
        <p:nvSpPr>
          <p:cNvPr id="26" name="Text 22"/>
          <p:cNvSpPr/>
          <p:nvPr/>
        </p:nvSpPr>
        <p:spPr>
          <a:xfrm>
            <a:off x="5829300" y="1848445"/>
            <a:ext cx="2886075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Foydalanuvchilar boshqaruvi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(qidiruv, filtr, bloklash)</a:t>
            </a:r>
            <a:endParaRPr lang="en-US" sz="1193" dirty="0"/>
          </a:p>
        </p:txBody>
      </p:sp>
      <p:sp>
        <p:nvSpPr>
          <p:cNvPr id="27" name="Text 23"/>
          <p:cNvSpPr/>
          <p:nvPr/>
        </p:nvSpPr>
        <p:spPr>
          <a:xfrm>
            <a:off x="5829300" y="2431331"/>
            <a:ext cx="2886075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Kurslar boshqaruvi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(yaratish, tahrirlash, nashr)</a:t>
            </a:r>
            <a:endParaRPr lang="en-US" sz="1193" dirty="0"/>
          </a:p>
        </p:txBody>
      </p:sp>
      <p:sp>
        <p:nvSpPr>
          <p:cNvPr id="28" name="Text 24"/>
          <p:cNvSpPr/>
          <p:nvPr/>
        </p:nvSpPr>
        <p:spPr>
          <a:xfrm>
            <a:off x="5829300" y="3014216"/>
            <a:ext cx="2886075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statistika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(DAU, MAU, XP taqsimoti)</a:t>
            </a:r>
            <a:endParaRPr lang="en-US" sz="1193" dirty="0"/>
          </a:p>
        </p:txBody>
      </p:sp>
      <p:sp>
        <p:nvSpPr>
          <p:cNvPr id="29" name="Text 25"/>
          <p:cNvSpPr/>
          <p:nvPr/>
        </p:nvSpPr>
        <p:spPr>
          <a:xfrm>
            <a:off x="5829300" y="3597101"/>
            <a:ext cx="2886075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20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2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(barcha harakatlar tarixi)</a:t>
            </a:r>
            <a:endParaRPr lang="en-US" sz="1193" dirty="0"/>
          </a:p>
        </p:txBody>
      </p:sp>
      <p:sp>
        <p:nvSpPr>
          <p:cNvPr id="30" name="Shape 26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8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33" name="Text 29"/>
          <p:cNvSpPr/>
          <p:nvPr/>
        </p:nvSpPr>
        <p:spPr>
          <a:xfrm>
            <a:off x="8558213" y="4879181"/>
            <a:ext cx="300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18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Cyber-Neon dizayn va UI/UX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980480"/>
            <a:ext cx="8572500" cy="7400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285750" y="980480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8851106" y="980480"/>
            <a:ext cx="7144" cy="740048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285750" y="1713384"/>
            <a:ext cx="8572500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285750" y="980480"/>
            <a:ext cx="28575" cy="7400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00050" y="1094780"/>
            <a:ext cx="8343900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Cyber-Neon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kibernetik estetika va neon ranglarni birlashtiruvchi futuristik dizayn uslubi. Bu uslub o'quvchilarda "kelajak texnologiyalari" hissini uyg'otadi va o'rganishni qiziqarli qiladi.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85750" y="1820540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Rang palitrasi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678656" y="2254886"/>
            <a:ext cx="2943225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Asosiy fon: </a:t>
            </a:r>
            <a:r>
              <a:rPr lang="en-US" sz="1090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#0A0E1A</a:t>
            </a: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(quyuq ko'k-qora)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678656" y="2626361"/>
            <a:ext cx="2557463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 yashil: </a:t>
            </a:r>
            <a:r>
              <a:rPr lang="en-US" sz="1090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#00FF88</a:t>
            </a: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(XP, streak)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678656" y="2997836"/>
            <a:ext cx="2591395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 binafsha: </a:t>
            </a:r>
            <a:r>
              <a:rPr lang="en-US" sz="1090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#8B5CF6</a:t>
            </a: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(Boss AI)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678656" y="3369311"/>
            <a:ext cx="2377083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 ko'k: </a:t>
            </a:r>
            <a:r>
              <a:rPr lang="en-US" sz="1090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#00D4FF</a:t>
            </a: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(havolalar)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678656" y="3740786"/>
            <a:ext cx="2421731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Ogohlantirish: </a:t>
            </a:r>
            <a:r>
              <a:rPr lang="en-US" sz="1090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#FF6B35</a:t>
            </a: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(xatolar)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4679156" y="1820540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UX ko'rsatkichlari (Lighthouse)</a:t>
            </a:r>
            <a:endParaRPr lang="en-US" sz="1602" dirty="0"/>
          </a:p>
        </p:txBody>
      </p:sp>
      <p:sp>
        <p:nvSpPr>
          <p:cNvPr id="17" name="Shape 14"/>
          <p:cNvSpPr/>
          <p:nvPr/>
        </p:nvSpPr>
        <p:spPr>
          <a:xfrm>
            <a:off x="4679156" y="2297385"/>
            <a:ext cx="2032397" cy="776883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4679156" y="2297385"/>
            <a:ext cx="28575" cy="776883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793456" y="2411685"/>
            <a:ext cx="180379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94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20" name="Text 17"/>
          <p:cNvSpPr/>
          <p:nvPr/>
        </p:nvSpPr>
        <p:spPr>
          <a:xfrm>
            <a:off x="4793456" y="2822451"/>
            <a:ext cx="18037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6825853" y="2297385"/>
            <a:ext cx="2032397" cy="776883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6825853" y="2297385"/>
            <a:ext cx="28575" cy="776883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6940153" y="2411685"/>
            <a:ext cx="180379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24" name="Text 21"/>
          <p:cNvSpPr/>
          <p:nvPr/>
        </p:nvSpPr>
        <p:spPr>
          <a:xfrm>
            <a:off x="6940153" y="2822451"/>
            <a:ext cx="18037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4679156" y="3188568"/>
            <a:ext cx="2032397" cy="776883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4679156" y="3188568"/>
            <a:ext cx="28575" cy="776883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4793456" y="3302868"/>
            <a:ext cx="180379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28" name="Text 25"/>
          <p:cNvSpPr/>
          <p:nvPr/>
        </p:nvSpPr>
        <p:spPr>
          <a:xfrm>
            <a:off x="4793456" y="3713634"/>
            <a:ext cx="18037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6825853" y="3188568"/>
            <a:ext cx="2032397" cy="776883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6825853" y="3188568"/>
            <a:ext cx="28575" cy="776883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6940153" y="3302868"/>
            <a:ext cx="1803797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</a:t>
            </a:r>
            <a:r>
              <a:rPr lang="en-US" sz="1193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/100</a:t>
            </a:r>
            <a:endParaRPr lang="en-US" sz="2121" dirty="0"/>
          </a:p>
        </p:txBody>
      </p:sp>
      <p:sp>
        <p:nvSpPr>
          <p:cNvPr id="32" name="Text 29"/>
          <p:cNvSpPr/>
          <p:nvPr/>
        </p:nvSpPr>
        <p:spPr>
          <a:xfrm>
            <a:off x="6940153" y="3713634"/>
            <a:ext cx="18037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679156" y="4108326"/>
            <a:ext cx="4179094" cy="574346"/>
          </a:xfrm>
          <a:prstGeom prst="rect">
            <a:avLst/>
          </a:prstGeom>
          <a:solidFill>
            <a:srgbClr val="FF3366">
              <a:alpha val="5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/>
          <p:nvPr/>
        </p:nvSpPr>
        <p:spPr>
          <a:xfrm>
            <a:off x="4793456" y="4222626"/>
            <a:ext cx="3950494" cy="331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Foydalanuvchi qoniqishi: </a:t>
            </a:r>
            <a:r>
              <a:rPr lang="en-US" sz="1602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ball</a:t>
            </a:r>
            <a:endParaRPr lang="en-US" sz="1269" dirty="0"/>
          </a:p>
        </p:txBody>
      </p:sp>
      <p:sp>
        <p:nvSpPr>
          <p:cNvPr id="35" name="Shape 32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3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8579644" y="4879181"/>
            <a:ext cx="2786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18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 CI/CD – Uzluksiz integratsiya va joylashtirish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51905"/>
            <a:ext cx="42291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jarayoni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285750" y="1300163"/>
            <a:ext cx="4229100" cy="130552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285750" y="1300163"/>
            <a:ext cx="28575" cy="1305520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2068116" y="1357313"/>
            <a:ext cx="664369" cy="210741"/>
          </a:xfrm>
          <a:prstGeom prst="rect">
            <a:avLst/>
          </a:prstGeom>
          <a:noFill/>
          <a:ln/>
        </p:spPr>
        <p:txBody>
          <a:bodyPr wrap="none" lIns="0" tIns="17018" rIns="0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Dasturchi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438" y="1568053"/>
            <a:ext cx="8572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78819" y="1684139"/>
            <a:ext cx="842963" cy="210741"/>
          </a:xfrm>
          <a:prstGeom prst="rect">
            <a:avLst/>
          </a:prstGeom>
          <a:noFill/>
          <a:ln/>
        </p:spPr>
        <p:txBody>
          <a:bodyPr wrap="none" lIns="0" tIns="17018" rIns="0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Push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7438" y="1894880"/>
            <a:ext cx="85725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69852" y="2010966"/>
            <a:ext cx="1460897" cy="210741"/>
          </a:xfrm>
          <a:prstGeom prst="rect">
            <a:avLst/>
          </a:prstGeom>
          <a:noFill/>
          <a:ln/>
        </p:spPr>
        <p:txBody>
          <a:bodyPr wrap="none" lIns="0" tIns="17018" rIns="0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Actions (test)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7438" y="2221706"/>
            <a:ext cx="85725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9148" y="2337792"/>
            <a:ext cx="1282303" cy="210741"/>
          </a:xfrm>
          <a:prstGeom prst="rect">
            <a:avLst/>
          </a:prstGeom>
          <a:noFill/>
          <a:ln/>
        </p:spPr>
        <p:txBody>
          <a:bodyPr wrap="none" lIns="0" tIns="17018" rIns="0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 Deploy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285750" y="2705695"/>
            <a:ext cx="42291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 afzalliklari:</a:t>
            </a:r>
            <a:endParaRPr lang="en-US" sz="1602" dirty="0"/>
          </a:p>
        </p:txBody>
      </p:sp>
      <p:sp>
        <p:nvSpPr>
          <p:cNvPr id="15" name="Text 9"/>
          <p:cNvSpPr/>
          <p:nvPr/>
        </p:nvSpPr>
        <p:spPr>
          <a:xfrm>
            <a:off x="285750" y="3096816"/>
            <a:ext cx="20859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Network</a:t>
            </a: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100+ mamlakatda CDN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2428875" y="3096816"/>
            <a:ext cx="20859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Avtomatik HTTPS</a:t>
            </a: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bepul SSL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285750" y="3500438"/>
            <a:ext cx="20859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Deployments</a:t>
            </a: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PR uchun URL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2428875" y="3500438"/>
            <a:ext cx="20859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Downtime</a:t>
            </a: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yangilanishda uzilish yo'q</a:t>
            </a:r>
            <a:endParaRPr lang="en-US" sz="987" dirty="0"/>
          </a:p>
        </p:txBody>
      </p:sp>
      <p:sp>
        <p:nvSpPr>
          <p:cNvPr id="19" name="Shape 13"/>
          <p:cNvSpPr/>
          <p:nvPr/>
        </p:nvSpPr>
        <p:spPr>
          <a:xfrm>
            <a:off x="4629150" y="951905"/>
            <a:ext cx="4229100" cy="249674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6425" y="1062633"/>
            <a:ext cx="257175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43600" y="1037630"/>
            <a:ext cx="1857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Ishlash natijalari</a:t>
            </a:r>
            <a:endParaRPr lang="en-US" sz="1602" dirty="0"/>
          </a:p>
        </p:txBody>
      </p:sp>
      <p:sp>
        <p:nvSpPr>
          <p:cNvPr id="22" name="Text 15"/>
          <p:cNvSpPr/>
          <p:nvPr/>
        </p:nvSpPr>
        <p:spPr>
          <a:xfrm>
            <a:off x="4714875" y="1400175"/>
            <a:ext cx="2035913" cy="32861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KO'RSATKICH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6750788" y="1400175"/>
            <a:ext cx="874551" cy="32861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QIYMAT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7625339" y="1400175"/>
            <a:ext cx="1147186" cy="32861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BAHOLASH</a:t>
            </a:r>
            <a:endParaRPr lang="en-US" sz="987" dirty="0"/>
          </a:p>
        </p:txBody>
      </p:sp>
      <p:sp>
        <p:nvSpPr>
          <p:cNvPr id="25" name="Shape 18"/>
          <p:cNvSpPr/>
          <p:nvPr/>
        </p:nvSpPr>
        <p:spPr>
          <a:xfrm>
            <a:off x="4714875" y="1728788"/>
            <a:ext cx="4057650" cy="32325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19"/>
          <p:cNvSpPr/>
          <p:nvPr/>
        </p:nvSpPr>
        <p:spPr>
          <a:xfrm>
            <a:off x="4714875" y="1728788"/>
            <a:ext cx="2035913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TTFB (birinchi bayt)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750788" y="1728788"/>
            <a:ext cx="874551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 ms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625339" y="1728788"/>
            <a:ext cx="1147186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Yaxshi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4714875" y="2052042"/>
            <a:ext cx="2035913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LCP (asosiy kontent)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750788" y="2052042"/>
            <a:ext cx="874551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 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7625339" y="2052042"/>
            <a:ext cx="1147186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Yaxshi</a:t>
            </a:r>
            <a:endParaRPr lang="en-US" sz="987" dirty="0"/>
          </a:p>
        </p:txBody>
      </p:sp>
      <p:sp>
        <p:nvSpPr>
          <p:cNvPr id="32" name="Shape 25"/>
          <p:cNvSpPr/>
          <p:nvPr/>
        </p:nvSpPr>
        <p:spPr>
          <a:xfrm>
            <a:off x="4714875" y="2375297"/>
            <a:ext cx="4057650" cy="32325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6"/>
          <p:cNvSpPr/>
          <p:nvPr/>
        </p:nvSpPr>
        <p:spPr>
          <a:xfrm>
            <a:off x="4714875" y="2375297"/>
            <a:ext cx="2035913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FID (birinchi kiritma)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750788" y="2375297"/>
            <a:ext cx="874551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7625339" y="2375297"/>
            <a:ext cx="1147186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Yaxshi</a:t>
            </a:r>
            <a:endParaRPr lang="en-US" sz="987" dirty="0"/>
          </a:p>
        </p:txBody>
      </p:sp>
      <p:sp>
        <p:nvSpPr>
          <p:cNvPr id="36" name="Text 29"/>
          <p:cNvSpPr/>
          <p:nvPr/>
        </p:nvSpPr>
        <p:spPr>
          <a:xfrm>
            <a:off x="4714875" y="2698552"/>
            <a:ext cx="2035913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CLS (tartib siljishi)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750788" y="2698552"/>
            <a:ext cx="874551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0.05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7625339" y="2698552"/>
            <a:ext cx="1147186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Yaxshi</a:t>
            </a:r>
            <a:endParaRPr lang="en-US" sz="987" dirty="0"/>
          </a:p>
        </p:txBody>
      </p:sp>
      <p:sp>
        <p:nvSpPr>
          <p:cNvPr id="39" name="Shape 32"/>
          <p:cNvSpPr/>
          <p:nvPr/>
        </p:nvSpPr>
        <p:spPr>
          <a:xfrm>
            <a:off x="4714875" y="3021806"/>
            <a:ext cx="4057650" cy="32325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3"/>
          <p:cNvSpPr/>
          <p:nvPr/>
        </p:nvSpPr>
        <p:spPr>
          <a:xfrm>
            <a:off x="4714875" y="3021806"/>
            <a:ext cx="2035913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6750788" y="3021806"/>
            <a:ext cx="874551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625339" y="3021806"/>
            <a:ext cx="1147186" cy="32325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A'lo</a:t>
            </a:r>
            <a:endParaRPr lang="en-US" sz="987" dirty="0"/>
          </a:p>
        </p:txBody>
      </p:sp>
      <p:sp>
        <p:nvSpPr>
          <p:cNvPr id="43" name="Shape 36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Shape 37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38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46" name="Text 39"/>
          <p:cNvSpPr/>
          <p:nvPr/>
        </p:nvSpPr>
        <p:spPr>
          <a:xfrm>
            <a:off x="8559998" y="4879181"/>
            <a:ext cx="2982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18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Pedagogik eksperiment – Sinov metodologiyasi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980480"/>
            <a:ext cx="2071688" cy="30081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C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06263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037630"/>
            <a:ext cx="1428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Eksperiment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342900" y="1328738"/>
            <a:ext cx="79652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dizayni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471488" y="1705570"/>
            <a:ext cx="1828800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8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Muddati: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 oy (2025-yil yanvar - mart)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71488" y="2211325"/>
            <a:ext cx="1828800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8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Ishtirokchilar: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120 nafar o'quvchi (14-18 yosh)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471488" y="2948527"/>
            <a:ext cx="182880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800"/>
              </a:lnSpc>
              <a:buSzPct val="100000"/>
              <a:buChar char="•"/>
            </a:pPr>
            <a:r>
              <a:rPr lang="en-US" sz="1193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Guruhlar:</a:t>
            </a: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Nazorat (60) — An'anaviy; Tajriba (60) — DuoKod platformasi</a:t>
            </a:r>
            <a:endParaRPr lang="en-US" sz="1193" dirty="0"/>
          </a:p>
        </p:txBody>
      </p:sp>
      <p:sp>
        <p:nvSpPr>
          <p:cNvPr id="11" name="Shape 7"/>
          <p:cNvSpPr/>
          <p:nvPr/>
        </p:nvSpPr>
        <p:spPr>
          <a:xfrm>
            <a:off x="2443163" y="980480"/>
            <a:ext cx="2071688" cy="277668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13" y="1062633"/>
            <a:ext cx="28575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86063" y="1037630"/>
            <a:ext cx="150911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Ishtirokchilar</a:t>
            </a:r>
            <a:endParaRPr lang="en-US" sz="1602" dirty="0"/>
          </a:p>
        </p:txBody>
      </p:sp>
      <p:sp>
        <p:nvSpPr>
          <p:cNvPr id="14" name="Text 9"/>
          <p:cNvSpPr/>
          <p:nvPr/>
        </p:nvSpPr>
        <p:spPr>
          <a:xfrm>
            <a:off x="2500313" y="1328738"/>
            <a:ext cx="64472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profili</a:t>
            </a:r>
            <a:endParaRPr lang="en-US" sz="1602" dirty="0"/>
          </a:p>
        </p:txBody>
      </p:sp>
      <p:sp>
        <p:nvSpPr>
          <p:cNvPr id="15" name="Text 10"/>
          <p:cNvSpPr/>
          <p:nvPr/>
        </p:nvSpPr>
        <p:spPr>
          <a:xfrm>
            <a:off x="2628900" y="1705570"/>
            <a:ext cx="1828800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8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Dasturlash bo'yicha boshlang'ich bilimga ega emas</a:t>
            </a:r>
            <a:endParaRPr lang="en-US" sz="1269" dirty="0"/>
          </a:p>
        </p:txBody>
      </p:sp>
      <p:sp>
        <p:nvSpPr>
          <p:cNvPr id="16" name="Text 11"/>
          <p:cNvSpPr/>
          <p:nvPr/>
        </p:nvSpPr>
        <p:spPr>
          <a:xfrm>
            <a:off x="2628900" y="2442772"/>
            <a:ext cx="1828800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8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Kompyuter savodxonligi: o'rta daraja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2628900" y="3179973"/>
            <a:ext cx="1828800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800"/>
              </a:lnSpc>
              <a:buSzPct val="100000"/>
              <a:buChar char="•"/>
            </a:pPr>
            <a:r>
              <a:rPr lang="en-US" sz="126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Motivatsiya darajasi: o'rtacha</a:t>
            </a:r>
            <a:endParaRPr lang="en-US" sz="1269" dirty="0"/>
          </a:p>
        </p:txBody>
      </p:sp>
      <p:sp>
        <p:nvSpPr>
          <p:cNvPr id="18" name="Shape 13"/>
          <p:cNvSpPr/>
          <p:nvPr/>
        </p:nvSpPr>
        <p:spPr>
          <a:xfrm>
            <a:off x="4629150" y="980480"/>
            <a:ext cx="4229100" cy="316646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062633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14900" y="1037630"/>
            <a:ext cx="288964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O'lchov vositalari va tahlil</a:t>
            </a:r>
            <a:endParaRPr lang="en-US" sz="1602" dirty="0"/>
          </a:p>
        </p:txBody>
      </p:sp>
      <p:sp>
        <p:nvSpPr>
          <p:cNvPr id="21" name="Text 15"/>
          <p:cNvSpPr/>
          <p:nvPr/>
        </p:nvSpPr>
        <p:spPr>
          <a:xfrm>
            <a:off x="4686300" y="1414463"/>
            <a:ext cx="1503034" cy="3000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O'LCHOV VOSITASI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6189334" y="1414463"/>
            <a:ext cx="2611766" cy="3000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MAQSAD</a:t>
            </a:r>
            <a:endParaRPr lang="en-US" sz="987" dirty="0"/>
          </a:p>
        </p:txBody>
      </p:sp>
      <p:sp>
        <p:nvSpPr>
          <p:cNvPr id="23" name="Shape 17"/>
          <p:cNvSpPr/>
          <p:nvPr/>
        </p:nvSpPr>
        <p:spPr>
          <a:xfrm>
            <a:off x="4686300" y="1714500"/>
            <a:ext cx="4114800" cy="4679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8"/>
          <p:cNvSpPr/>
          <p:nvPr/>
        </p:nvSpPr>
        <p:spPr>
          <a:xfrm>
            <a:off x="4686300" y="1714500"/>
            <a:ext cx="1503034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Pre-test va Post-test</a:t>
            </a:r>
            <a:endParaRPr lang="en-US" sz="987" dirty="0"/>
          </a:p>
        </p:txBody>
      </p:sp>
      <p:sp>
        <p:nvSpPr>
          <p:cNvPr id="25" name="Text 19"/>
          <p:cNvSpPr/>
          <p:nvPr/>
        </p:nvSpPr>
        <p:spPr>
          <a:xfrm>
            <a:off x="6189334" y="1714500"/>
            <a:ext cx="26117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O'zlashtirish darajasini aniqlash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686300" y="2182416"/>
            <a:ext cx="1503034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Motivatsiya so'roqnomasi</a:t>
            </a:r>
            <a:endParaRPr lang="en-US" sz="987" dirty="0"/>
          </a:p>
        </p:txBody>
      </p:sp>
      <p:sp>
        <p:nvSpPr>
          <p:cNvPr id="27" name="Text 21"/>
          <p:cNvSpPr/>
          <p:nvPr/>
        </p:nvSpPr>
        <p:spPr>
          <a:xfrm>
            <a:off x="6189334" y="2182416"/>
            <a:ext cx="26117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ARCS modeli asosida motivatsiyani o'lchash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686300" y="2650331"/>
            <a:ext cx="4114800" cy="4679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3"/>
          <p:cNvSpPr/>
          <p:nvPr/>
        </p:nvSpPr>
        <p:spPr>
          <a:xfrm>
            <a:off x="4686300" y="2650331"/>
            <a:ext cx="1503034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 statistikasi</a:t>
            </a:r>
            <a:endParaRPr lang="en-US" sz="987" dirty="0"/>
          </a:p>
        </p:txBody>
      </p:sp>
      <p:sp>
        <p:nvSpPr>
          <p:cNvPr id="30" name="Text 24"/>
          <p:cNvSpPr/>
          <p:nvPr/>
        </p:nvSpPr>
        <p:spPr>
          <a:xfrm>
            <a:off x="6189334" y="2650331"/>
            <a:ext cx="26117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Kunlik faollik (DAU), darsni tugatish foizi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686300" y="3118247"/>
            <a:ext cx="1503034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Student's t-test</a:t>
            </a:r>
            <a:endParaRPr lang="en-US" sz="987" dirty="0"/>
          </a:p>
        </p:txBody>
      </p:sp>
      <p:sp>
        <p:nvSpPr>
          <p:cNvPr id="32" name="Text 26"/>
          <p:cNvSpPr/>
          <p:nvPr/>
        </p:nvSpPr>
        <p:spPr>
          <a:xfrm>
            <a:off x="6189334" y="3118247"/>
            <a:ext cx="26117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Natijalarning statistik ahamiyatliligini tekshirish (p &lt; 0.05)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686300" y="3646884"/>
            <a:ext cx="4114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Barcha ma'lumotlar anonimlashtirilgan holda yig'ildi va tahlil qilindi.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285750" y="49149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29"/>
          <p:cNvSpPr/>
          <p:nvPr/>
        </p:nvSpPr>
        <p:spPr>
          <a:xfrm>
            <a:off x="285750" y="49149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0"/>
          <p:cNvSpPr/>
          <p:nvPr/>
        </p:nvSpPr>
        <p:spPr>
          <a:xfrm>
            <a:off x="285750" y="4964906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37" name="Text 31"/>
          <p:cNvSpPr/>
          <p:nvPr/>
        </p:nvSpPr>
        <p:spPr>
          <a:xfrm>
            <a:off x="8558213" y="4964906"/>
            <a:ext cx="300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18</a:t>
            </a:r>
            <a:endParaRPr lang="en-US" sz="72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Eksperiment natijalari – Gamifikatsiya samaradorligi isbotlandi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418034"/>
            <a:ext cx="417909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Asosiy natijalar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285750" y="1794867"/>
            <a:ext cx="2046684" cy="719733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285750" y="1794867"/>
            <a:ext cx="28575" cy="719733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371475" y="1880592"/>
            <a:ext cx="1875234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+34%</a:t>
            </a:r>
            <a:endParaRPr lang="en-US" sz="2121" dirty="0"/>
          </a:p>
        </p:txBody>
      </p:sp>
      <p:sp>
        <p:nvSpPr>
          <p:cNvPr id="8" name="Text 5"/>
          <p:cNvSpPr/>
          <p:nvPr/>
        </p:nvSpPr>
        <p:spPr>
          <a:xfrm>
            <a:off x="371475" y="2291358"/>
            <a:ext cx="18752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O'ZLASHTIRISH DARAJASI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2418159" y="1794867"/>
            <a:ext cx="2046684" cy="719733"/>
          </a:xfrm>
          <a:prstGeom prst="rect">
            <a:avLst/>
          </a:prstGeom>
          <a:solidFill>
            <a:srgbClr val="33CCFF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2418159" y="1794867"/>
            <a:ext cx="28575" cy="719733"/>
          </a:xfrm>
          <a:prstGeom prst="rect">
            <a:avLst/>
          </a:prstGeom>
          <a:solidFill>
            <a:srgbClr val="33CC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2503884" y="1880592"/>
            <a:ext cx="1875234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3.2x</a:t>
            </a:r>
            <a:endParaRPr lang="en-US" sz="2121" dirty="0"/>
          </a:p>
        </p:txBody>
      </p:sp>
      <p:sp>
        <p:nvSpPr>
          <p:cNvPr id="12" name="Text 9"/>
          <p:cNvSpPr/>
          <p:nvPr/>
        </p:nvSpPr>
        <p:spPr>
          <a:xfrm>
            <a:off x="2503884" y="2291358"/>
            <a:ext cx="18752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KUNLIK FAOLLIK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285750" y="2600325"/>
            <a:ext cx="2046684" cy="719733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285750" y="2600325"/>
            <a:ext cx="28575" cy="719733"/>
          </a:xfrm>
          <a:prstGeom prst="rect">
            <a:avLst/>
          </a:prstGeom>
          <a:solidFill>
            <a:srgbClr val="FF336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371475" y="2686050"/>
            <a:ext cx="1875234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-45%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371475" y="3096816"/>
            <a:ext cx="18752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TARK ETISH (DROP-OUT)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2418159" y="2600325"/>
            <a:ext cx="2046684" cy="719733"/>
          </a:xfrm>
          <a:prstGeom prst="rect">
            <a:avLst/>
          </a:prstGeom>
          <a:solidFill>
            <a:srgbClr val="00FF88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2418159" y="2600325"/>
            <a:ext cx="28575" cy="719733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2503884" y="2686050"/>
            <a:ext cx="1875234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89%</a:t>
            </a:r>
            <a:endParaRPr lang="en-US" sz="2121" dirty="0"/>
          </a:p>
        </p:txBody>
      </p:sp>
      <p:sp>
        <p:nvSpPr>
          <p:cNvPr id="20" name="Text 17"/>
          <p:cNvSpPr/>
          <p:nvPr/>
        </p:nvSpPr>
        <p:spPr>
          <a:xfrm>
            <a:off x="2503884" y="3096816"/>
            <a:ext cx="18752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MOTIVATSIYA O'SISHI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285750" y="3434358"/>
            <a:ext cx="4179094" cy="103941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523655"/>
            <a:ext cx="192881" cy="1714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0069" y="3505795"/>
            <a:ext cx="184844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Statistik ahamiyatlilik</a:t>
            </a:r>
            <a:endParaRPr lang="en-US" sz="1193" dirty="0"/>
          </a:p>
        </p:txBody>
      </p:sp>
      <p:sp>
        <p:nvSpPr>
          <p:cNvPr id="24" name="Text 20"/>
          <p:cNvSpPr/>
          <p:nvPr/>
        </p:nvSpPr>
        <p:spPr>
          <a:xfrm>
            <a:off x="357188" y="3766542"/>
            <a:ext cx="4036219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Student's t-test natijalariga ko'ra, tajriba va nazorat guruhlari o'rtasidagi farq statistik jihatdan ahamiyatli (</a:t>
            </a:r>
            <a:r>
              <a:rPr lang="en-US" sz="987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&lt; 0.01</a:t>
            </a:r>
            <a:r>
              <a:rPr lang="en-US" sz="1050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406926" y="1418034"/>
            <a:ext cx="272355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Guruhlar o'rtasidagi farq</a:t>
            </a:r>
            <a:endParaRPr lang="en-US" sz="1602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766292"/>
            <a:ext cx="4179094" cy="200025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679156" y="3852267"/>
            <a:ext cx="4179094" cy="840786"/>
          </a:xfrm>
          <a:prstGeom prst="rect">
            <a:avLst/>
          </a:prstGeom>
          <a:solidFill>
            <a:srgbClr val="00FF88">
              <a:alpha val="5000"/>
            </a:srgbClr>
          </a:solidFill>
          <a:ln w="9144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4750594" y="3923705"/>
            <a:ext cx="4036219" cy="683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90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Xulosa:</a:t>
            </a: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Gamifikatsiya elementlari (XP, Streak, Boss AI) dasturlashni o'rganishda motivatsiyani va natijalarni sezilarli darajada oshiradi.</a:t>
            </a:r>
            <a:endParaRPr lang="en-US" sz="1159" dirty="0"/>
          </a:p>
        </p:txBody>
      </p:sp>
      <p:sp>
        <p:nvSpPr>
          <p:cNvPr id="29" name="Shape 24"/>
          <p:cNvSpPr/>
          <p:nvPr/>
        </p:nvSpPr>
        <p:spPr>
          <a:xfrm>
            <a:off x="285750" y="4800600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5"/>
          <p:cNvSpPr/>
          <p:nvPr/>
        </p:nvSpPr>
        <p:spPr>
          <a:xfrm>
            <a:off x="285750" y="4800600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6"/>
          <p:cNvSpPr/>
          <p:nvPr/>
        </p:nvSpPr>
        <p:spPr>
          <a:xfrm>
            <a:off x="285750" y="4879181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32" name="Text 27"/>
          <p:cNvSpPr/>
          <p:nvPr/>
        </p:nvSpPr>
        <p:spPr>
          <a:xfrm>
            <a:off x="8556427" y="4879181"/>
            <a:ext cx="3018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18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Platformani boshqa platformalar bilan qiyoslash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151930"/>
            <a:ext cx="8286750" cy="352901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C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28625" y="1159073"/>
            <a:ext cx="2320268" cy="485775"/>
          </a:xfrm>
          <a:prstGeom prst="rect">
            <a:avLst/>
          </a:prstGeom>
          <a:solidFill>
            <a:srgbClr val="33CCFF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2741749" y="1159073"/>
            <a:ext cx="7144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428625" y="1637705"/>
            <a:ext cx="232026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428625" y="1159073"/>
            <a:ext cx="2320268" cy="48577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XUSUSIYAT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748893" y="1159073"/>
            <a:ext cx="1512633" cy="485775"/>
          </a:xfrm>
          <a:prstGeom prst="rect">
            <a:avLst/>
          </a:prstGeom>
          <a:solidFill>
            <a:srgbClr val="00FF88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2748893" y="1159073"/>
            <a:ext cx="1512633" cy="1428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247238" y="1159073"/>
            <a:ext cx="14288" cy="485775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2748893" y="1637705"/>
            <a:ext cx="1512633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2748893" y="1159073"/>
            <a:ext cx="14288" cy="485775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2748893" y="1159073"/>
            <a:ext cx="1512633" cy="48577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DUOKOD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4261526" y="1151930"/>
            <a:ext cx="1610497" cy="478631"/>
          </a:xfrm>
          <a:prstGeom prst="rect">
            <a:avLst/>
          </a:prstGeom>
          <a:solidFill>
            <a:srgbClr val="33CCFF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864879" y="1151930"/>
            <a:ext cx="7144" cy="4786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4261526" y="1623417"/>
            <a:ext cx="1610497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4261526" y="1151930"/>
            <a:ext cx="1610497" cy="4786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CODECADEMY</a:t>
            </a:r>
            <a:endParaRPr lang="en-US" sz="1193" dirty="0"/>
          </a:p>
        </p:txBody>
      </p:sp>
      <p:sp>
        <p:nvSpPr>
          <p:cNvPr id="19" name="Shape 16"/>
          <p:cNvSpPr/>
          <p:nvPr/>
        </p:nvSpPr>
        <p:spPr>
          <a:xfrm>
            <a:off x="5872023" y="1151930"/>
            <a:ext cx="1606562" cy="478631"/>
          </a:xfrm>
          <a:prstGeom prst="rect">
            <a:avLst/>
          </a:prstGeom>
          <a:solidFill>
            <a:srgbClr val="33CCFF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7471442" y="1151930"/>
            <a:ext cx="7144" cy="4786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872023" y="1623417"/>
            <a:ext cx="1606562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5872023" y="1151930"/>
            <a:ext cx="1606562" cy="4786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SOLOLEARN</a:t>
            </a:r>
            <a:endParaRPr lang="en-US" sz="1193" dirty="0"/>
          </a:p>
        </p:txBody>
      </p:sp>
      <p:sp>
        <p:nvSpPr>
          <p:cNvPr id="23" name="Shape 20"/>
          <p:cNvSpPr/>
          <p:nvPr/>
        </p:nvSpPr>
        <p:spPr>
          <a:xfrm>
            <a:off x="7481683" y="1151930"/>
            <a:ext cx="1233692" cy="478631"/>
          </a:xfrm>
          <a:prstGeom prst="rect">
            <a:avLst/>
          </a:prstGeom>
          <a:solidFill>
            <a:srgbClr val="33CCFF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7481683" y="1623417"/>
            <a:ext cx="1233692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7481683" y="1151930"/>
            <a:ext cx="1233692" cy="4786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COURSERA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428625" y="1626989"/>
            <a:ext cx="2320268" cy="639366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 tili interfeysi va darslar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2748893" y="1626989"/>
            <a:ext cx="1513638" cy="639366"/>
          </a:xfrm>
          <a:prstGeom prst="rect">
            <a:avLst/>
          </a:prstGeom>
          <a:solidFill>
            <a:srgbClr val="00FF88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4248243" y="1626989"/>
            <a:ext cx="14288" cy="639366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6"/>
          <p:cNvSpPr/>
          <p:nvPr/>
        </p:nvSpPr>
        <p:spPr>
          <a:xfrm>
            <a:off x="2748893" y="2259211"/>
            <a:ext cx="151363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2748893" y="1626989"/>
            <a:ext cx="14288" cy="639366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276" y="1853803"/>
            <a:ext cx="171450" cy="17145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395876" y="1852017"/>
            <a:ext cx="44469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To'liq</a:t>
            </a:r>
            <a:endParaRPr lang="en-US" sz="1159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298" y="1852017"/>
            <a:ext cx="107156" cy="17145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965604" y="1850231"/>
            <a:ext cx="3732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Yo'q</a:t>
            </a:r>
            <a:endParaRPr lang="en-US" sz="1159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088" y="1852017"/>
            <a:ext cx="107156" cy="1714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573394" y="1850231"/>
            <a:ext cx="3732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Yo'q</a:t>
            </a:r>
            <a:endParaRPr lang="en-US" sz="1159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800" y="1852017"/>
            <a:ext cx="150019" cy="1714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902969" y="1850231"/>
            <a:ext cx="6018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Qisman</a:t>
            </a:r>
            <a:endParaRPr lang="en-US" sz="1159" dirty="0"/>
          </a:p>
        </p:txBody>
      </p:sp>
      <p:sp>
        <p:nvSpPr>
          <p:cNvPr id="39" name="Text 32"/>
          <p:cNvSpPr/>
          <p:nvPr/>
        </p:nvSpPr>
        <p:spPr>
          <a:xfrm>
            <a:off x="428625" y="2266355"/>
            <a:ext cx="2320268" cy="642938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Gamifikatsiya darajasi</a:t>
            </a:r>
            <a:endParaRPr lang="en-US" sz="1090" dirty="0"/>
          </a:p>
        </p:txBody>
      </p:sp>
      <p:sp>
        <p:nvSpPr>
          <p:cNvPr id="40" name="Shape 33"/>
          <p:cNvSpPr/>
          <p:nvPr/>
        </p:nvSpPr>
        <p:spPr>
          <a:xfrm>
            <a:off x="2748893" y="2266355"/>
            <a:ext cx="1513638" cy="642938"/>
          </a:xfrm>
          <a:prstGeom prst="rect">
            <a:avLst/>
          </a:prstGeom>
          <a:solidFill>
            <a:srgbClr val="00FF88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Shape 34"/>
          <p:cNvSpPr/>
          <p:nvPr/>
        </p:nvSpPr>
        <p:spPr>
          <a:xfrm>
            <a:off x="4248243" y="2266355"/>
            <a:ext cx="14288" cy="64293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Shape 35"/>
          <p:cNvSpPr/>
          <p:nvPr/>
        </p:nvSpPr>
        <p:spPr>
          <a:xfrm>
            <a:off x="2748893" y="2902148"/>
            <a:ext cx="151363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Shape 36"/>
          <p:cNvSpPr/>
          <p:nvPr/>
        </p:nvSpPr>
        <p:spPr>
          <a:xfrm>
            <a:off x="2748893" y="2266355"/>
            <a:ext cx="14288" cy="64293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37"/>
          <p:cNvSpPr/>
          <p:nvPr/>
        </p:nvSpPr>
        <p:spPr>
          <a:xfrm>
            <a:off x="3250629" y="2398514"/>
            <a:ext cx="5036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Yuqori</a:t>
            </a:r>
            <a:endParaRPr lang="en-US" sz="1090" dirty="0"/>
          </a:p>
        </p:txBody>
      </p:sp>
      <p:sp>
        <p:nvSpPr>
          <p:cNvPr id="45" name="Text 38"/>
          <p:cNvSpPr/>
          <p:nvPr/>
        </p:nvSpPr>
        <p:spPr>
          <a:xfrm>
            <a:off x="2947913" y="2628900"/>
            <a:ext cx="11090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(XP, Streak, Boss AI)</a:t>
            </a:r>
            <a:endParaRPr lang="en-US" sz="834" dirty="0"/>
          </a:p>
        </p:txBody>
      </p:sp>
      <p:sp>
        <p:nvSpPr>
          <p:cNvPr id="46" name="Text 39"/>
          <p:cNvSpPr/>
          <p:nvPr/>
        </p:nvSpPr>
        <p:spPr>
          <a:xfrm>
            <a:off x="4874800" y="2398514"/>
            <a:ext cx="3857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B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O'rta</a:t>
            </a:r>
            <a:endParaRPr lang="en-US" sz="1090" dirty="0"/>
          </a:p>
        </p:txBody>
      </p:sp>
      <p:sp>
        <p:nvSpPr>
          <p:cNvPr id="47" name="Text 40"/>
          <p:cNvSpPr/>
          <p:nvPr/>
        </p:nvSpPr>
        <p:spPr>
          <a:xfrm>
            <a:off x="4567619" y="2628900"/>
            <a:ext cx="10001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(Nishonlar, Streak)</a:t>
            </a:r>
            <a:endParaRPr lang="en-US" sz="834" dirty="0"/>
          </a:p>
        </p:txBody>
      </p:sp>
      <p:sp>
        <p:nvSpPr>
          <p:cNvPr id="48" name="Text 41"/>
          <p:cNvSpPr/>
          <p:nvPr/>
        </p:nvSpPr>
        <p:spPr>
          <a:xfrm>
            <a:off x="6424715" y="2398514"/>
            <a:ext cx="5036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Yuqori</a:t>
            </a:r>
            <a:endParaRPr lang="en-US" sz="1090" dirty="0"/>
          </a:p>
        </p:txBody>
      </p:sp>
      <p:sp>
        <p:nvSpPr>
          <p:cNvPr id="49" name="Text 42"/>
          <p:cNvSpPr/>
          <p:nvPr/>
        </p:nvSpPr>
        <p:spPr>
          <a:xfrm>
            <a:off x="6211295" y="2628900"/>
            <a:ext cx="9304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(XP, Liga, Streak)</a:t>
            </a:r>
            <a:endParaRPr lang="en-US" sz="834" dirty="0"/>
          </a:p>
        </p:txBody>
      </p:sp>
      <p:sp>
        <p:nvSpPr>
          <p:cNvPr id="50" name="Text 43"/>
          <p:cNvSpPr/>
          <p:nvPr/>
        </p:nvSpPr>
        <p:spPr>
          <a:xfrm>
            <a:off x="7933804" y="2398514"/>
            <a:ext cx="3321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</a:t>
            </a:r>
            <a:endParaRPr lang="en-US" sz="1090" dirty="0"/>
          </a:p>
        </p:txBody>
      </p:sp>
      <p:sp>
        <p:nvSpPr>
          <p:cNvPr id="51" name="Text 44"/>
          <p:cNvSpPr/>
          <p:nvPr/>
        </p:nvSpPr>
        <p:spPr>
          <a:xfrm>
            <a:off x="7748067" y="2628900"/>
            <a:ext cx="7036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(Sertifikatlar)</a:t>
            </a:r>
            <a:endParaRPr lang="en-US" sz="834" dirty="0"/>
          </a:p>
        </p:txBody>
      </p:sp>
      <p:sp>
        <p:nvSpPr>
          <p:cNvPr id="52" name="Text 45"/>
          <p:cNvSpPr/>
          <p:nvPr/>
        </p:nvSpPr>
        <p:spPr>
          <a:xfrm>
            <a:off x="428625" y="2909292"/>
            <a:ext cx="2320268" cy="642938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Moslashuvchan qiyinlik (AI)</a:t>
            </a:r>
            <a:endParaRPr lang="en-US" sz="1090" dirty="0"/>
          </a:p>
        </p:txBody>
      </p:sp>
      <p:sp>
        <p:nvSpPr>
          <p:cNvPr id="53" name="Shape 46"/>
          <p:cNvSpPr/>
          <p:nvPr/>
        </p:nvSpPr>
        <p:spPr>
          <a:xfrm>
            <a:off x="2748893" y="2909292"/>
            <a:ext cx="1510708" cy="642938"/>
          </a:xfrm>
          <a:prstGeom prst="rect">
            <a:avLst/>
          </a:prstGeom>
          <a:solidFill>
            <a:srgbClr val="00FF88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4" name="Shape 47"/>
          <p:cNvSpPr/>
          <p:nvPr/>
        </p:nvSpPr>
        <p:spPr>
          <a:xfrm>
            <a:off x="4245313" y="2909292"/>
            <a:ext cx="14288" cy="64293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Shape 48"/>
          <p:cNvSpPr/>
          <p:nvPr/>
        </p:nvSpPr>
        <p:spPr>
          <a:xfrm>
            <a:off x="2748893" y="3545086"/>
            <a:ext cx="151070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Shape 49"/>
          <p:cNvSpPr/>
          <p:nvPr/>
        </p:nvSpPr>
        <p:spPr>
          <a:xfrm>
            <a:off x="2748893" y="2909292"/>
            <a:ext cx="14288" cy="64293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323" y="3137892"/>
            <a:ext cx="171450" cy="17145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3314923" y="3136106"/>
            <a:ext cx="6036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</a:t>
            </a:r>
            <a:endParaRPr lang="en-US" sz="1159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98" y="3137892"/>
            <a:ext cx="107156" cy="17145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963204" y="3136106"/>
            <a:ext cx="3732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Yo'q</a:t>
            </a:r>
            <a:endParaRPr lang="en-US" sz="1159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748" y="3137892"/>
            <a:ext cx="107156" cy="171450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6572055" y="3136106"/>
            <a:ext cx="3732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Yo'q</a:t>
            </a:r>
            <a:endParaRPr lang="en-US" sz="1159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113" y="3137892"/>
            <a:ext cx="107156" cy="17145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7995419" y="3136106"/>
            <a:ext cx="3732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Yo'q</a:t>
            </a:r>
            <a:endParaRPr lang="en-US" sz="1159" dirty="0"/>
          </a:p>
        </p:txBody>
      </p:sp>
      <p:sp>
        <p:nvSpPr>
          <p:cNvPr id="65" name="Text 54"/>
          <p:cNvSpPr/>
          <p:nvPr/>
        </p:nvSpPr>
        <p:spPr>
          <a:xfrm>
            <a:off x="428625" y="3552230"/>
            <a:ext cx="2320268" cy="642938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Ko'nikmalar vizualizatsiyasi</a:t>
            </a:r>
            <a:endParaRPr lang="en-US" sz="1090" dirty="0"/>
          </a:p>
        </p:txBody>
      </p:sp>
      <p:sp>
        <p:nvSpPr>
          <p:cNvPr id="66" name="Shape 55"/>
          <p:cNvSpPr/>
          <p:nvPr/>
        </p:nvSpPr>
        <p:spPr>
          <a:xfrm>
            <a:off x="2748893" y="3552230"/>
            <a:ext cx="1510708" cy="642938"/>
          </a:xfrm>
          <a:prstGeom prst="rect">
            <a:avLst/>
          </a:prstGeom>
          <a:solidFill>
            <a:srgbClr val="00FF88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7" name="Shape 56"/>
          <p:cNvSpPr/>
          <p:nvPr/>
        </p:nvSpPr>
        <p:spPr>
          <a:xfrm>
            <a:off x="4245313" y="3552230"/>
            <a:ext cx="14288" cy="64293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8" name="Shape 57"/>
          <p:cNvSpPr/>
          <p:nvPr/>
        </p:nvSpPr>
        <p:spPr>
          <a:xfrm>
            <a:off x="2748893" y="4188023"/>
            <a:ext cx="151070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9" name="Shape 58"/>
          <p:cNvSpPr/>
          <p:nvPr/>
        </p:nvSpPr>
        <p:spPr>
          <a:xfrm>
            <a:off x="2748893" y="3552230"/>
            <a:ext cx="14288" cy="64293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8274" y="3780830"/>
            <a:ext cx="171450" cy="171450"/>
          </a:xfrm>
          <a:prstGeom prst="rect">
            <a:avLst/>
          </a:prstGeom>
        </p:spPr>
      </p:pic>
      <p:sp>
        <p:nvSpPr>
          <p:cNvPr id="71" name="Text 59"/>
          <p:cNvSpPr/>
          <p:nvPr/>
        </p:nvSpPr>
        <p:spPr>
          <a:xfrm>
            <a:off x="3206874" y="3779044"/>
            <a:ext cx="8197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Radar</a:t>
            </a:r>
            <a:endParaRPr lang="en-US" sz="1159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713" y="3780830"/>
            <a:ext cx="150019" cy="171450"/>
          </a:xfrm>
          <a:prstGeom prst="rect">
            <a:avLst/>
          </a:prstGeom>
        </p:spPr>
      </p:pic>
      <p:sp>
        <p:nvSpPr>
          <p:cNvPr id="73" name="Text 60"/>
          <p:cNvSpPr/>
          <p:nvPr/>
        </p:nvSpPr>
        <p:spPr>
          <a:xfrm>
            <a:off x="4673882" y="3779044"/>
            <a:ext cx="9947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bar</a:t>
            </a:r>
            <a:endParaRPr lang="en-US" sz="1159" dirty="0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5564" y="3780830"/>
            <a:ext cx="150019" cy="171450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6282733" y="3779044"/>
            <a:ext cx="9947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bar</a:t>
            </a:r>
            <a:endParaRPr lang="en-US" sz="1159" dirty="0"/>
          </a:p>
        </p:txBody>
      </p:sp>
      <p:pic>
        <p:nvPicPr>
          <p:cNvPr id="76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2703" y="3780830"/>
            <a:ext cx="150019" cy="171450"/>
          </a:xfrm>
          <a:prstGeom prst="rect">
            <a:avLst/>
          </a:prstGeom>
        </p:spPr>
      </p:pic>
      <p:sp>
        <p:nvSpPr>
          <p:cNvPr id="77" name="Text 62"/>
          <p:cNvSpPr/>
          <p:nvPr/>
        </p:nvSpPr>
        <p:spPr>
          <a:xfrm>
            <a:off x="7899871" y="3779044"/>
            <a:ext cx="60721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Baholar</a:t>
            </a:r>
            <a:endParaRPr lang="en-US" sz="1159" dirty="0"/>
          </a:p>
        </p:txBody>
      </p:sp>
      <p:sp>
        <p:nvSpPr>
          <p:cNvPr id="78" name="Text 63"/>
          <p:cNvSpPr/>
          <p:nvPr/>
        </p:nvSpPr>
        <p:spPr>
          <a:xfrm>
            <a:off x="428625" y="4195167"/>
            <a:ext cx="2320268" cy="453628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Foydalanish narxi</a:t>
            </a:r>
            <a:endParaRPr lang="en-US" sz="1090" dirty="0"/>
          </a:p>
        </p:txBody>
      </p:sp>
      <p:sp>
        <p:nvSpPr>
          <p:cNvPr id="79" name="Shape 64"/>
          <p:cNvSpPr/>
          <p:nvPr/>
        </p:nvSpPr>
        <p:spPr>
          <a:xfrm>
            <a:off x="2748893" y="4195167"/>
            <a:ext cx="1510708" cy="453628"/>
          </a:xfrm>
          <a:prstGeom prst="rect">
            <a:avLst/>
          </a:prstGeom>
          <a:solidFill>
            <a:srgbClr val="00FF88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0" name="Shape 65"/>
          <p:cNvSpPr/>
          <p:nvPr/>
        </p:nvSpPr>
        <p:spPr>
          <a:xfrm>
            <a:off x="4245313" y="4195167"/>
            <a:ext cx="14288" cy="45362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1" name="Shape 66"/>
          <p:cNvSpPr/>
          <p:nvPr/>
        </p:nvSpPr>
        <p:spPr>
          <a:xfrm>
            <a:off x="2748893" y="4634508"/>
            <a:ext cx="1510708" cy="1428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2" name="Shape 67"/>
          <p:cNvSpPr/>
          <p:nvPr/>
        </p:nvSpPr>
        <p:spPr>
          <a:xfrm>
            <a:off x="2748893" y="4195167"/>
            <a:ext cx="14288" cy="45362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3" name="Text 68"/>
          <p:cNvSpPr/>
          <p:nvPr/>
        </p:nvSpPr>
        <p:spPr>
          <a:xfrm>
            <a:off x="3286348" y="4327327"/>
            <a:ext cx="4321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Bepul</a:t>
            </a:r>
            <a:endParaRPr lang="en-US" sz="1090" dirty="0"/>
          </a:p>
        </p:txBody>
      </p:sp>
      <p:sp>
        <p:nvSpPr>
          <p:cNvPr id="84" name="Text 69"/>
          <p:cNvSpPr/>
          <p:nvPr/>
        </p:nvSpPr>
        <p:spPr>
          <a:xfrm>
            <a:off x="4566726" y="4327327"/>
            <a:ext cx="5911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Qimmat</a:t>
            </a:r>
            <a:endParaRPr lang="en-US" sz="1090" dirty="0"/>
          </a:p>
        </p:txBody>
      </p:sp>
      <p:sp>
        <p:nvSpPr>
          <p:cNvPr id="85" name="Text 70"/>
          <p:cNvSpPr/>
          <p:nvPr/>
        </p:nvSpPr>
        <p:spPr>
          <a:xfrm>
            <a:off x="5157871" y="4327327"/>
            <a:ext cx="4107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(Pro)</a:t>
            </a:r>
            <a:endParaRPr lang="en-US" sz="1159" dirty="0"/>
          </a:p>
        </p:txBody>
      </p:sp>
      <p:sp>
        <p:nvSpPr>
          <p:cNvPr id="86" name="Text 71"/>
          <p:cNvSpPr/>
          <p:nvPr/>
        </p:nvSpPr>
        <p:spPr>
          <a:xfrm>
            <a:off x="6278268" y="4327327"/>
            <a:ext cx="3857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B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O'rta</a:t>
            </a:r>
            <a:endParaRPr lang="en-US" sz="1090" dirty="0"/>
          </a:p>
        </p:txBody>
      </p:sp>
      <p:sp>
        <p:nvSpPr>
          <p:cNvPr id="87" name="Text 72"/>
          <p:cNvSpPr/>
          <p:nvPr/>
        </p:nvSpPr>
        <p:spPr>
          <a:xfrm>
            <a:off x="6664030" y="4327327"/>
            <a:ext cx="4107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(Pro)</a:t>
            </a:r>
            <a:endParaRPr lang="en-US" sz="1159" dirty="0"/>
          </a:p>
        </p:txBody>
      </p:sp>
      <p:sp>
        <p:nvSpPr>
          <p:cNvPr id="88" name="Text 73"/>
          <p:cNvSpPr/>
          <p:nvPr/>
        </p:nvSpPr>
        <p:spPr>
          <a:xfrm>
            <a:off x="7804324" y="4327327"/>
            <a:ext cx="5911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Qimmat</a:t>
            </a:r>
            <a:endParaRPr lang="en-US" sz="1090" dirty="0"/>
          </a:p>
        </p:txBody>
      </p:sp>
      <p:sp>
        <p:nvSpPr>
          <p:cNvPr id="89" name="Shape 74"/>
          <p:cNvSpPr/>
          <p:nvPr/>
        </p:nvSpPr>
        <p:spPr>
          <a:xfrm>
            <a:off x="428625" y="4693444"/>
            <a:ext cx="828675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0" name="Shape 75"/>
          <p:cNvSpPr/>
          <p:nvPr/>
        </p:nvSpPr>
        <p:spPr>
          <a:xfrm>
            <a:off x="428625" y="4693444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1" name="Text 76"/>
          <p:cNvSpPr/>
          <p:nvPr/>
        </p:nvSpPr>
        <p:spPr>
          <a:xfrm>
            <a:off x="428625" y="4807744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92" name="Text 77"/>
          <p:cNvSpPr/>
          <p:nvPr/>
        </p:nvSpPr>
        <p:spPr>
          <a:xfrm>
            <a:off x="8418909" y="4807744"/>
            <a:ext cx="2964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18</a:t>
            </a: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4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Xulosa va tavsiyalar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85750" y="1037630"/>
            <a:ext cx="4179094" cy="402014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2055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225" y="1180505"/>
            <a:ext cx="185023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Asosiy xulosalar</a:t>
            </a:r>
            <a:endParaRPr lang="en-US" sz="160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659136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375" y="1614488"/>
            <a:ext cx="36075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 tilidagi birinchi gamifikatsiyalashgan dasturlash platformasi (DuoKod) muvaffaqiyatli ishlab chiqildi.</a:t>
            </a:r>
            <a:endParaRPr lang="en-US" sz="1159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80667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4375" y="2436019"/>
            <a:ext cx="36075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Eksperiment natijalari shuni ko'rsatdiki, gamifikatsiya o'quvchilarning motivatsiyasini va o'zlashtirish darajasini </a:t>
            </a: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34% ga oshirdi</a:t>
            </a: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9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302198"/>
            <a:ext cx="214313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7238" y="3257550"/>
            <a:ext cx="356473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 AI va Skill Radar Chart kabi innovatsion elementlar ta'lim jarayonini individuallashtirishga yordam berdi.</a:t>
            </a:r>
            <a:endParaRPr lang="en-US" sz="1159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4123730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14375" y="4079081"/>
            <a:ext cx="36075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Zamonaviy JAMstack arxitekturasi va RLS xavfsizlik qoidalari platformaning barqaror ishlashini ta'minladi.</a:t>
            </a:r>
            <a:endParaRPr lang="en-US" sz="1159" dirty="0"/>
          </a:p>
        </p:txBody>
      </p:sp>
      <p:sp>
        <p:nvSpPr>
          <p:cNvPr id="15" name="Shape 7"/>
          <p:cNvSpPr/>
          <p:nvPr/>
        </p:nvSpPr>
        <p:spPr>
          <a:xfrm>
            <a:off x="4679156" y="1037630"/>
            <a:ext cx="4179094" cy="402014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CC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1205508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50631" y="1180505"/>
            <a:ext cx="341471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Kelajakdagi rejalar (Tavsiyalar)</a:t>
            </a:r>
            <a:endParaRPr lang="en-US" sz="1602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031" y="1659136"/>
            <a:ext cx="128588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64919" y="1614488"/>
            <a:ext cx="3650456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 ilova yaratish:</a:t>
            </a: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 Native yoki Flutter yordamida iOS va Android uchun ilova ishlab chiqish.</a:t>
            </a:r>
            <a:endParaRPr lang="en-US" sz="109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2031" y="2480667"/>
            <a:ext cx="171450" cy="1714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107781" y="2436019"/>
            <a:ext cx="360759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 AI integratsiyasi:</a:t>
            </a: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Kod xatolarini tushuntirib beruvchi va maslahat beruvchi AI-yordamchi (LLM) qo'shish.</a:t>
            </a:r>
            <a:endParaRPr lang="en-US" sz="109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2031" y="3302198"/>
            <a:ext cx="214313" cy="17145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150644" y="3257550"/>
            <a:ext cx="356473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Ijtimoiy funksiyalar:</a:t>
            </a: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O'quvchilar o'rtasida jamoaviy musobaqalar (Klanlar/Ligalar) tashkil etish.</a:t>
            </a:r>
            <a:endParaRPr lang="en-US" sz="109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2031" y="4123730"/>
            <a:ext cx="150019" cy="17145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086350" y="4079081"/>
            <a:ext cx="36290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Yangi kurslar:</a:t>
            </a:r>
            <a:r>
              <a:rPr lang="en-US" sz="1159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va JavaScript dan tashqari, Go, C++ va Web Dasturlash kurslarini qo'shish.</a:t>
            </a:r>
            <a:endParaRPr lang="en-US" sz="1090" dirty="0"/>
          </a:p>
        </p:txBody>
      </p:sp>
      <p:sp>
        <p:nvSpPr>
          <p:cNvPr id="26" name="Shape 13"/>
          <p:cNvSpPr/>
          <p:nvPr/>
        </p:nvSpPr>
        <p:spPr>
          <a:xfrm>
            <a:off x="285750" y="5057775"/>
            <a:ext cx="85725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14"/>
          <p:cNvSpPr/>
          <p:nvPr/>
        </p:nvSpPr>
        <p:spPr>
          <a:xfrm>
            <a:off x="285750" y="5057775"/>
            <a:ext cx="85725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15"/>
          <p:cNvSpPr/>
          <p:nvPr/>
        </p:nvSpPr>
        <p:spPr>
          <a:xfrm>
            <a:off x="285750" y="5136356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29" name="Text 16"/>
          <p:cNvSpPr/>
          <p:nvPr/>
        </p:nvSpPr>
        <p:spPr>
          <a:xfrm>
            <a:off x="8558213" y="5136356"/>
            <a:ext cx="300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18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310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Foydalanilgan adabiyotlar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080492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[1]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14375" y="1080492"/>
            <a:ext cx="371475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Deterding, E., Dixon, D., Khaled, R., &amp; Nacke, L.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(2011)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From game design elements to gamefulness: defining "gamification". In Proceedings of the 15th international academic MindTrek conference.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421481" y="2105391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[2]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07231" y="2168039"/>
            <a:ext cx="37147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Kapp, K. M.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(2012)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gamification of learning and instruction: game-based methods and strategies for training and education. John Wiley &amp; Sons.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3132305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[3]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14375" y="3153252"/>
            <a:ext cx="371475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Hamari, J., Koivisto, J., &amp; Sarsa, H.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(2014)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Does gamification work? -- a literature review of empirical studies on gamification. In 2014 47th Hawaii international conference on system sciences.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21481" y="4223234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[4]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14375" y="4244230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Vesselinov, R., &amp; Grego, J.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(2012)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Duolingo effectiveness study. City University of New York, USA.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714875" y="1080492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[5]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000625" y="1080492"/>
            <a:ext cx="37147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Deci, E. L., &amp; Ryan, R. M.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(2000)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"what" and "why" of goal pursuits: Human needs and the self-determination of behavior. Psychological inquiry.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714875" y="2109192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[6]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000625" y="2109192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Csikszentmihalyi, M.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(1990)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Flow: The psychology of optimal experience. Harper &amp; Row.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4714875" y="2666405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[7]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00625" y="2666405"/>
            <a:ext cx="37147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O'zbekiston Respublikasi Prezidentining Qarori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(2022)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"Axborot-kommunikatsiya texnologiyalari sohasida kadrlar tayyorlash tizimini yanada takomillashtirish chora-tadbirlari to'g'risida".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714875" y="3695105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[8]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000625" y="3695105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33C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Documentation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9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(2024)</a:t>
            </a: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Row Level Security and Authentication. [Elektron manba]. URL: https://supabase.com/docs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428625" y="4980980"/>
            <a:ext cx="828675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428625" y="4980980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428625" y="5095280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8420695" y="5095280"/>
            <a:ext cx="2946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18</a:t>
            </a:r>
            <a:endParaRPr lang="en-US" sz="72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6155"/>
            <a:ext cx="828675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145" b="1" kern="0" spc="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E'TIBORINGIZ UCHUN RAHMAT!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2906613" y="2266355"/>
            <a:ext cx="333077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C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Savollaringiz bormi?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1920943" y="2989659"/>
            <a:ext cx="5302114" cy="148768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1920943" y="2989659"/>
            <a:ext cx="5302114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7215913" y="2989659"/>
            <a:ext cx="7144" cy="1487686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1920943" y="4470202"/>
            <a:ext cx="5302114" cy="7144"/>
          </a:xfrm>
          <a:prstGeom prst="rect">
            <a:avLst/>
          </a:prstGeom>
          <a:solidFill>
            <a:srgbClr val="D6F5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1920943" y="2989659"/>
            <a:ext cx="57150" cy="1487686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853" y="3232547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38903" y="3212902"/>
            <a:ext cx="25781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Platforma: </a:t>
            </a:r>
            <a:r>
              <a:rPr lang="en-US" sz="1486" dirty="0">
                <a:solidFill>
                  <a:srgbClr val="33CC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www.duokod.uz</a:t>
            </a:r>
            <a:endParaRPr lang="en-US" sz="1486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2424" y="3616523"/>
            <a:ext cx="221456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38903" y="3596878"/>
            <a:ext cx="409482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Manba kodi: </a:t>
            </a:r>
            <a:r>
              <a:rPr lang="en-US" sz="1486" dirty="0">
                <a:solidFill>
                  <a:srgbClr val="33CC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github.com/talaba/duokod</a:t>
            </a:r>
            <a:endParaRPr lang="en-US" sz="1486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8853" y="40005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38903" y="3980855"/>
            <a:ext cx="233567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Aloqa: </a:t>
            </a:r>
            <a:r>
              <a:rPr lang="en-US" sz="1486" dirty="0">
                <a:solidFill>
                  <a:srgbClr val="33CC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info@duokod.uz</a:t>
            </a:r>
            <a:endParaRPr lang="en-US" sz="1486" dirty="0"/>
          </a:p>
        </p:txBody>
      </p:sp>
      <p:sp>
        <p:nvSpPr>
          <p:cNvPr id="16" name="Shape 10"/>
          <p:cNvSpPr/>
          <p:nvPr/>
        </p:nvSpPr>
        <p:spPr>
          <a:xfrm>
            <a:off x="428625" y="4693444"/>
            <a:ext cx="8286750" cy="235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1"/>
          <p:cNvSpPr/>
          <p:nvPr/>
        </p:nvSpPr>
        <p:spPr>
          <a:xfrm>
            <a:off x="428625" y="4693444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2"/>
          <p:cNvSpPr/>
          <p:nvPr/>
        </p:nvSpPr>
        <p:spPr>
          <a:xfrm>
            <a:off x="428625" y="4807744"/>
            <a:ext cx="13930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DuoKod Diplom Ishi Himoyasi</a:t>
            </a:r>
            <a:endParaRPr lang="en-US" sz="727" dirty="0"/>
          </a:p>
        </p:txBody>
      </p:sp>
      <p:sp>
        <p:nvSpPr>
          <p:cNvPr id="19" name="Text 13"/>
          <p:cNvSpPr/>
          <p:nvPr/>
        </p:nvSpPr>
        <p:spPr>
          <a:xfrm>
            <a:off x="8415338" y="4807744"/>
            <a:ext cx="300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18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1904</Words>
  <Application>Microsoft Office PowerPoint</Application>
  <PresentationFormat>On-screen Show (16:9)</PresentationFormat>
  <Paragraphs>404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Inter</vt:lpstr>
      <vt:lpstr>monospace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Muhammadjon Matchanov</cp:lastModifiedBy>
  <cp:revision>1</cp:revision>
  <dcterms:created xsi:type="dcterms:W3CDTF">2026-04-12T09:14:10Z</dcterms:created>
  <dcterms:modified xsi:type="dcterms:W3CDTF">2026-04-12T09:28:45Z</dcterms:modified>
</cp:coreProperties>
</file>